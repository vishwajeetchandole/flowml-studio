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uce Heavy" charset="1" panose="00000A00000000000000"/>
      <p:regular r:id="rId18"/>
    </p:embeddedFont>
    <p:embeddedFont>
      <p:font typeface="Inter Light" charset="1" panose="02000503000000020004"/>
      <p:regular r:id="rId19"/>
    </p:embeddedFont>
    <p:embeddedFont>
      <p:font typeface="Open Sauce" charset="1" panose="00000500000000000000"/>
      <p:regular r:id="rId20"/>
    </p:embeddedFont>
    <p:embeddedFont>
      <p:font typeface="Open Sauce Bold" charset="1" panose="00000800000000000000"/>
      <p:regular r:id="rId21"/>
    </p:embeddedFont>
    <p:embeddedFont>
      <p:font typeface="Open Sauce Light" charset="1" panose="00000400000000000000"/>
      <p:regular r:id="rId22"/>
    </p:embeddedFont>
    <p:embeddedFont>
      <p:font typeface="Inter" charset="1" panose="02000503000000020004"/>
      <p:regular r:id="rId23"/>
    </p:embeddedFont>
    <p:embeddedFont>
      <p:font typeface="Canva Sans Bold" charset="1" panose="020B08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95350" y="3942457"/>
            <a:ext cx="9577518" cy="2447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36"/>
              </a:lnSpc>
            </a:pPr>
            <a:r>
              <a:rPr lang="en-US" sz="20391" spc="-958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FlowML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464700"/>
            <a:ext cx="7029066" cy="639089"/>
            <a:chOff x="0" y="0"/>
            <a:chExt cx="9372089" cy="85211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9372089" cy="852119"/>
              <a:chOff x="0" y="0"/>
              <a:chExt cx="690832" cy="6281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90832" cy="62811"/>
              </a:xfrm>
              <a:custGeom>
                <a:avLst/>
                <a:gdLst/>
                <a:ahLst/>
                <a:cxnLst/>
                <a:rect r="r" b="b" t="t" l="l"/>
                <a:pathLst>
                  <a:path h="62811" w="690832">
                    <a:moveTo>
                      <a:pt x="20529" y="0"/>
                    </a:moveTo>
                    <a:lnTo>
                      <a:pt x="670303" y="0"/>
                    </a:lnTo>
                    <a:cubicBezTo>
                      <a:pt x="675747" y="0"/>
                      <a:pt x="680969" y="2163"/>
                      <a:pt x="684819" y="6013"/>
                    </a:cubicBezTo>
                    <a:cubicBezTo>
                      <a:pt x="688669" y="9863"/>
                      <a:pt x="690832" y="15085"/>
                      <a:pt x="690832" y="20529"/>
                    </a:cubicBezTo>
                    <a:lnTo>
                      <a:pt x="690832" y="42282"/>
                    </a:lnTo>
                    <a:cubicBezTo>
                      <a:pt x="690832" y="47726"/>
                      <a:pt x="688669" y="52948"/>
                      <a:pt x="684819" y="56798"/>
                    </a:cubicBezTo>
                    <a:cubicBezTo>
                      <a:pt x="680969" y="60648"/>
                      <a:pt x="675747" y="62811"/>
                      <a:pt x="670303" y="62811"/>
                    </a:cubicBezTo>
                    <a:lnTo>
                      <a:pt x="20529" y="62811"/>
                    </a:lnTo>
                    <a:cubicBezTo>
                      <a:pt x="15085" y="62811"/>
                      <a:pt x="9863" y="60648"/>
                      <a:pt x="6013" y="56798"/>
                    </a:cubicBezTo>
                    <a:cubicBezTo>
                      <a:pt x="2163" y="52948"/>
                      <a:pt x="0" y="47726"/>
                      <a:pt x="0" y="42282"/>
                    </a:cubicBezTo>
                    <a:lnTo>
                      <a:pt x="0" y="20529"/>
                    </a:lnTo>
                    <a:cubicBezTo>
                      <a:pt x="0" y="15085"/>
                      <a:pt x="2163" y="9863"/>
                      <a:pt x="6013" y="6013"/>
                    </a:cubicBezTo>
                    <a:cubicBezTo>
                      <a:pt x="9863" y="2163"/>
                      <a:pt x="15085" y="0"/>
                      <a:pt x="20529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500"/>
                    </a:srgbClr>
                  </a:gs>
                  <a:gs pos="25000">
                    <a:srgbClr val="FFFFFF">
                      <a:alpha val="15000"/>
                    </a:srgbClr>
                  </a:gs>
                  <a:gs pos="50000">
                    <a:srgbClr val="FFFFFF">
                      <a:alpha val="10000"/>
                    </a:srgbClr>
                  </a:gs>
                  <a:gs pos="75000">
                    <a:srgbClr val="FFFFFF">
                      <a:alpha val="15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/>
              </a:gradFill>
              <a:ln w="190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85725"/>
                <a:ext cx="690832" cy="628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18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12987" y="163589"/>
              <a:ext cx="8657510" cy="54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6"/>
                </a:lnSpc>
              </a:pPr>
              <a:r>
                <a:rPr lang="en-US" sz="2632" spc="150">
                  <a:solidFill>
                    <a:srgbClr val="FFFFFF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A PROJECT IDEA PRESENTATION 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566727">
            <a:off x="10895260" y="-4368833"/>
            <a:ext cx="11215742" cy="1121574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80975"/>
              <a:ext cx="660400" cy="55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1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566727">
            <a:off x="12737741" y="-2526351"/>
            <a:ext cx="7530780" cy="753078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325677" y="8505235"/>
            <a:ext cx="3933623" cy="749117"/>
            <a:chOff x="0" y="0"/>
            <a:chExt cx="5244831" cy="998822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59464"/>
              <a:ext cx="5244831" cy="639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878"/>
                </a:lnSpc>
              </a:pPr>
              <a:r>
                <a:rPr lang="en-US" sz="3078" spc="-172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Team </a:t>
              </a:r>
              <a:r>
                <a:rPr lang="en-US" b="true" sz="3078" spc="-172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AutoNova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9525"/>
              <a:ext cx="5244831" cy="3600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207"/>
                </a:lnSpc>
              </a:pPr>
              <a:r>
                <a:rPr lang="en-US" sz="1752" spc="-98">
                  <a:solidFill>
                    <a:srgbClr val="FFFFFF"/>
                  </a:solidFill>
                  <a:latin typeface="Open Sauce"/>
                  <a:ea typeface="Open Sauce"/>
                  <a:cs typeface="Open Sauce"/>
                  <a:sym typeface="Open Sauce"/>
                </a:rPr>
                <a:t>Presented by :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6056202"/>
            <a:ext cx="8397803" cy="1785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3"/>
              </a:lnSpc>
            </a:pPr>
            <a:r>
              <a:rPr lang="en-US" sz="5629" spc="-315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Visual AI‑Powered Machine Learning Pipeline Builder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62982" y="9244827"/>
            <a:ext cx="6496318" cy="336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11"/>
              </a:lnSpc>
            </a:pPr>
            <a:r>
              <a:rPr lang="en-US" sz="2152" spc="-12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KIT’s College of Engineering, Kolhapur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047750"/>
            <a:ext cx="10260941" cy="326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752"/>
              </a:lnSpc>
            </a:pPr>
            <a:r>
              <a:rPr lang="en-US" b="true" sz="10899" spc="-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List of </a:t>
            </a:r>
          </a:p>
          <a:p>
            <a:pPr algn="just">
              <a:lnSpc>
                <a:spcPts val="12752"/>
              </a:lnSpc>
            </a:pPr>
            <a:r>
              <a:rPr lang="en-US" b="true" sz="10899" spc="-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Contents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067300"/>
            <a:ext cx="5100638" cy="264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AutoNum type="arabicPeriod" startAt="1"/>
            </a:pPr>
            <a:r>
              <a:rPr lang="en-US" sz="3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Introduction</a:t>
            </a:r>
          </a:p>
          <a:p>
            <a:pPr algn="l" marL="820417" indent="-410209" lvl="1">
              <a:lnSpc>
                <a:spcPts val="5319"/>
              </a:lnSpc>
              <a:buAutoNum type="arabicPeriod" startAt="1"/>
            </a:pPr>
            <a:r>
              <a:rPr lang="en-US" sz="3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Problem Statement</a:t>
            </a:r>
          </a:p>
          <a:p>
            <a:pPr algn="l" marL="820417" indent="-410209" lvl="1">
              <a:lnSpc>
                <a:spcPts val="5319"/>
              </a:lnSpc>
              <a:buAutoNum type="arabicPeriod" startAt="1"/>
            </a:pPr>
            <a:r>
              <a:rPr lang="en-US" sz="3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Objectives</a:t>
            </a:r>
          </a:p>
          <a:p>
            <a:pPr algn="l" marL="820417" indent="-410209" lvl="1">
              <a:lnSpc>
                <a:spcPts val="5319"/>
              </a:lnSpc>
              <a:buAutoNum type="arabicPeriod" startAt="1"/>
            </a:pPr>
            <a:r>
              <a:rPr lang="en-US" sz="3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Proposed System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13186" y="5067300"/>
            <a:ext cx="4676180" cy="2646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17" indent="-410209" lvl="1">
              <a:lnSpc>
                <a:spcPts val="5319"/>
              </a:lnSpc>
              <a:buAutoNum type="arabicPeriod" startAt="1"/>
            </a:pPr>
            <a:r>
              <a:rPr lang="en-US" sz="3799" spc="-2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Architecture</a:t>
            </a:r>
          </a:p>
          <a:p>
            <a:pPr algn="l" marL="820417" indent="-410209" lvl="1">
              <a:lnSpc>
                <a:spcPts val="5319"/>
              </a:lnSpc>
              <a:buAutoNum type="arabicPeriod" startAt="1"/>
            </a:pPr>
            <a:r>
              <a:rPr lang="en-US" sz="3799" spc="-2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 Stack</a:t>
            </a:r>
          </a:p>
          <a:p>
            <a:pPr algn="l" marL="820417" indent="-410209" lvl="1">
              <a:lnSpc>
                <a:spcPts val="5319"/>
              </a:lnSpc>
              <a:buAutoNum type="arabicPeriod" startAt="1"/>
            </a:pPr>
            <a:r>
              <a:rPr lang="en-US" sz="3799" spc="-2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Case</a:t>
            </a:r>
          </a:p>
          <a:p>
            <a:pPr algn="l" marL="820417" indent="-410209" lvl="1">
              <a:lnSpc>
                <a:spcPts val="5319"/>
              </a:lnSpc>
              <a:buAutoNum type="arabicPeriod" startAt="1"/>
            </a:pPr>
            <a:r>
              <a:rPr lang="en-US" sz="3799" spc="-28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2476756" y="-6477256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74928" y="-3741923"/>
            <a:ext cx="5213104" cy="52131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99938" y="2814799"/>
            <a:ext cx="6255228" cy="6687073"/>
            <a:chOff x="0" y="0"/>
            <a:chExt cx="3617164" cy="38668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17164" cy="3866884"/>
            </a:xfrm>
            <a:custGeom>
              <a:avLst/>
              <a:gdLst/>
              <a:ahLst/>
              <a:cxnLst/>
              <a:rect r="r" b="b" t="t" l="l"/>
              <a:pathLst>
                <a:path h="3866884" w="3617164">
                  <a:moveTo>
                    <a:pt x="32179" y="0"/>
                  </a:moveTo>
                  <a:lnTo>
                    <a:pt x="3584985" y="0"/>
                  </a:lnTo>
                  <a:cubicBezTo>
                    <a:pt x="3593519" y="0"/>
                    <a:pt x="3601704" y="3390"/>
                    <a:pt x="3607739" y="9425"/>
                  </a:cubicBezTo>
                  <a:cubicBezTo>
                    <a:pt x="3613774" y="15460"/>
                    <a:pt x="3617164" y="23645"/>
                    <a:pt x="3617164" y="32179"/>
                  </a:cubicBezTo>
                  <a:lnTo>
                    <a:pt x="3617164" y="3834704"/>
                  </a:lnTo>
                  <a:cubicBezTo>
                    <a:pt x="3617164" y="3843239"/>
                    <a:pt x="3613774" y="3851424"/>
                    <a:pt x="3607739" y="3857459"/>
                  </a:cubicBezTo>
                  <a:cubicBezTo>
                    <a:pt x="3601704" y="3863493"/>
                    <a:pt x="3593519" y="3866884"/>
                    <a:pt x="3584985" y="3866884"/>
                  </a:cubicBezTo>
                  <a:lnTo>
                    <a:pt x="32179" y="3866884"/>
                  </a:lnTo>
                  <a:cubicBezTo>
                    <a:pt x="23645" y="3866884"/>
                    <a:pt x="15460" y="3863493"/>
                    <a:pt x="9425" y="3857459"/>
                  </a:cubicBezTo>
                  <a:cubicBezTo>
                    <a:pt x="3390" y="3851424"/>
                    <a:pt x="0" y="3843239"/>
                    <a:pt x="0" y="3834704"/>
                  </a:cubicBezTo>
                  <a:lnTo>
                    <a:pt x="0" y="32179"/>
                  </a:lnTo>
                  <a:cubicBezTo>
                    <a:pt x="0" y="23645"/>
                    <a:pt x="3390" y="15460"/>
                    <a:pt x="9425" y="9425"/>
                  </a:cubicBezTo>
                  <a:cubicBezTo>
                    <a:pt x="15460" y="3390"/>
                    <a:pt x="23645" y="0"/>
                    <a:pt x="3217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3617164" cy="3781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377391" y="2973229"/>
            <a:ext cx="5900321" cy="6370212"/>
            <a:chOff x="0" y="0"/>
            <a:chExt cx="914114" cy="9869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114" cy="986913"/>
            </a:xfrm>
            <a:custGeom>
              <a:avLst/>
              <a:gdLst/>
              <a:ahLst/>
              <a:cxnLst/>
              <a:rect r="r" b="b" t="t" l="l"/>
              <a:pathLst>
                <a:path h="986913" w="914114">
                  <a:moveTo>
                    <a:pt x="30179" y="0"/>
                  </a:moveTo>
                  <a:lnTo>
                    <a:pt x="883935" y="0"/>
                  </a:lnTo>
                  <a:cubicBezTo>
                    <a:pt x="891939" y="0"/>
                    <a:pt x="899615" y="3180"/>
                    <a:pt x="905275" y="8839"/>
                  </a:cubicBezTo>
                  <a:cubicBezTo>
                    <a:pt x="910935" y="14499"/>
                    <a:pt x="914114" y="22175"/>
                    <a:pt x="914114" y="30179"/>
                  </a:cubicBezTo>
                  <a:lnTo>
                    <a:pt x="914114" y="956734"/>
                  </a:lnTo>
                  <a:cubicBezTo>
                    <a:pt x="914114" y="973401"/>
                    <a:pt x="900603" y="986913"/>
                    <a:pt x="883935" y="986913"/>
                  </a:cubicBezTo>
                  <a:lnTo>
                    <a:pt x="30179" y="986913"/>
                  </a:lnTo>
                  <a:cubicBezTo>
                    <a:pt x="22175" y="986913"/>
                    <a:pt x="14499" y="983733"/>
                    <a:pt x="8839" y="978073"/>
                  </a:cubicBezTo>
                  <a:cubicBezTo>
                    <a:pt x="3180" y="972414"/>
                    <a:pt x="0" y="964738"/>
                    <a:pt x="0" y="956734"/>
                  </a:cubicBezTo>
                  <a:lnTo>
                    <a:pt x="0" y="30179"/>
                  </a:lnTo>
                  <a:cubicBezTo>
                    <a:pt x="0" y="22175"/>
                    <a:pt x="3180" y="14499"/>
                    <a:pt x="8839" y="8839"/>
                  </a:cubicBezTo>
                  <a:cubicBezTo>
                    <a:pt x="14499" y="3180"/>
                    <a:pt x="22175" y="0"/>
                    <a:pt x="3017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1749" r="0" b="-1174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61835" y="1047750"/>
            <a:ext cx="10083044" cy="163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11"/>
              </a:lnSpc>
            </a:pPr>
            <a:r>
              <a:rPr lang="en-US" b="true" sz="10864" spc="-45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8889" y="2907138"/>
            <a:ext cx="9535419" cy="603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2134" indent="-286067" lvl="1">
              <a:lnSpc>
                <a:spcPts val="4027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Machine learning enables intelligent decision-making, but building complete workflows requires technical expertise and multiple tools, making the process complex.</a:t>
            </a:r>
          </a:p>
          <a:p>
            <a:pPr algn="just" marL="572134" indent="-286067" lvl="1">
              <a:lnSpc>
                <a:spcPts val="4027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Managing steps like preprocessing, training, and evaluation separately increases development time and reduces productivity.</a:t>
            </a:r>
          </a:p>
          <a:p>
            <a:pPr algn="l" marL="572134" indent="-286067" lvl="1">
              <a:lnSpc>
                <a:spcPts val="4027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Beginners often struggle to understand how different stages of a machine learning pipeline connect.</a:t>
            </a:r>
          </a:p>
          <a:p>
            <a:pPr algn="just" marL="572134" indent="-286067" lvl="1">
              <a:lnSpc>
                <a:spcPts val="4027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FlowML provides a visual drag-and-drop interface to automate preprocessing, model selection, and evaluation.</a:t>
            </a:r>
          </a:p>
          <a:p>
            <a:pPr algn="just" marL="572134" indent="-286067" lvl="1">
              <a:lnSpc>
                <a:spcPts val="4027"/>
              </a:lnSpc>
              <a:buFont typeface="Arial"/>
              <a:buChar char="•"/>
            </a:pPr>
            <a:r>
              <a:rPr lang="en-US" sz="264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This simplifies machine learning workflows, improves productivity, and makes AI accessible to more users.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13587780" y="5089383"/>
            <a:ext cx="9966661" cy="99666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365"/>
                  </a:srgbClr>
                </a:gs>
                <a:gs pos="25000">
                  <a:srgbClr val="FFFFFF">
                    <a:alpha val="1950"/>
                  </a:srgbClr>
                </a:gs>
                <a:gs pos="50000">
                  <a:srgbClr val="FFFFFF">
                    <a:alpha val="1300"/>
                  </a:srgbClr>
                </a:gs>
                <a:gs pos="75000">
                  <a:srgbClr val="FFFFFF">
                    <a:alpha val="1950"/>
                  </a:srgbClr>
                </a:gs>
                <a:gs pos="100000">
                  <a:srgbClr val="FFFFFF">
                    <a:alpha val="13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970256"/>
            <a:ext cx="12574409" cy="150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35"/>
              </a:lnSpc>
            </a:pPr>
            <a:r>
              <a:rPr lang="en-US" b="true" sz="10899" spc="-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 Statement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92836" y="3530539"/>
            <a:ext cx="7696498" cy="4137460"/>
            <a:chOff x="0" y="0"/>
            <a:chExt cx="10261998" cy="551661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261998" cy="5516613"/>
              <a:chOff x="0" y="0"/>
              <a:chExt cx="3120616" cy="167757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120616" cy="1677571"/>
              </a:xfrm>
              <a:custGeom>
                <a:avLst/>
                <a:gdLst/>
                <a:ahLst/>
                <a:cxnLst/>
                <a:rect r="r" b="b" t="t" l="l"/>
                <a:pathLst>
                  <a:path h="1677571" w="3120616">
                    <a:moveTo>
                      <a:pt x="46136" y="0"/>
                    </a:moveTo>
                    <a:lnTo>
                      <a:pt x="3074480" y="0"/>
                    </a:lnTo>
                    <a:cubicBezTo>
                      <a:pt x="3099960" y="0"/>
                      <a:pt x="3120616" y="20656"/>
                      <a:pt x="3120616" y="46136"/>
                    </a:cubicBezTo>
                    <a:lnTo>
                      <a:pt x="3120616" y="1631435"/>
                    </a:lnTo>
                    <a:cubicBezTo>
                      <a:pt x="3120616" y="1656915"/>
                      <a:pt x="3099960" y="1677571"/>
                      <a:pt x="3074480" y="1677571"/>
                    </a:cubicBezTo>
                    <a:lnTo>
                      <a:pt x="46136" y="1677571"/>
                    </a:lnTo>
                    <a:cubicBezTo>
                      <a:pt x="20656" y="1677571"/>
                      <a:pt x="0" y="1656915"/>
                      <a:pt x="0" y="1631435"/>
                    </a:cubicBezTo>
                    <a:lnTo>
                      <a:pt x="0" y="46136"/>
                    </a:lnTo>
                    <a:cubicBezTo>
                      <a:pt x="0" y="20656"/>
                      <a:pt x="20656" y="0"/>
                      <a:pt x="4613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ln w="19050" cap="rnd">
                <a:gradFill>
                  <a:gsLst>
                    <a:gs pos="0">
                      <a:srgbClr val="C55CD1">
                        <a:alpha val="100000"/>
                      </a:srgbClr>
                    </a:gs>
                    <a:gs pos="100000">
                      <a:srgbClr val="923ACD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85725"/>
                <a:ext cx="3120616" cy="1591846"/>
              </a:xfrm>
              <a:prstGeom prst="rect">
                <a:avLst/>
              </a:prstGeom>
            </p:spPr>
            <p:txBody>
              <a:bodyPr anchor="ctr" rtlCol="false" tIns="52439" lIns="52439" bIns="52439" rIns="52439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19056" y="1775819"/>
              <a:ext cx="9417094" cy="3440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1133" indent="-265567" lvl="1">
                <a:lnSpc>
                  <a:spcPts val="3444"/>
                </a:lnSpc>
                <a:buFont typeface="Arial"/>
                <a:buChar char="•"/>
              </a:pPr>
              <a:r>
                <a:rPr lang="en-US" sz="246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Machine learning pipelines involve multiple complex steps requiring strong technical expertise and experience.</a:t>
              </a:r>
            </a:p>
            <a:p>
              <a:pPr algn="l" marL="531133" indent="-265567" lvl="1">
                <a:lnSpc>
                  <a:spcPts val="3444"/>
                </a:lnSpc>
                <a:buFont typeface="Arial"/>
                <a:buChar char="•"/>
              </a:pPr>
              <a:r>
                <a:rPr lang="en-US" sz="246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 Beginners struggle to understand workflows, while professionals lose time switching between multiple tools.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762681" y="464057"/>
              <a:ext cx="7072931" cy="740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44"/>
                </a:lnSpc>
              </a:pPr>
              <a:r>
                <a:rPr lang="en-US" b="true" sz="3713" spc="-155">
                  <a:solidFill>
                    <a:srgbClr val="0E063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Challenges</a:t>
              </a:r>
            </a:p>
          </p:txBody>
        </p:sp>
        <p:sp>
          <p:nvSpPr>
            <p:cNvPr name="AutoShape 22" id="22"/>
            <p:cNvSpPr/>
            <p:nvPr/>
          </p:nvSpPr>
          <p:spPr>
            <a:xfrm flipV="true">
              <a:off x="762681" y="1408534"/>
              <a:ext cx="8186698" cy="0"/>
            </a:xfrm>
            <a:prstGeom prst="line">
              <a:avLst/>
            </a:prstGeom>
            <a:ln cap="flat" w="22843">
              <a:solidFill>
                <a:srgbClr val="0E0637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70116" y="3530539"/>
            <a:ext cx="7696498" cy="4137460"/>
            <a:chOff x="0" y="0"/>
            <a:chExt cx="10261998" cy="5516613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0261998" cy="5516613"/>
              <a:chOff x="0" y="0"/>
              <a:chExt cx="3120616" cy="167757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120616" cy="1677571"/>
              </a:xfrm>
              <a:custGeom>
                <a:avLst/>
                <a:gdLst/>
                <a:ahLst/>
                <a:cxnLst/>
                <a:rect r="r" b="b" t="t" l="l"/>
                <a:pathLst>
                  <a:path h="1677571" w="3120616">
                    <a:moveTo>
                      <a:pt x="47625" y="0"/>
                    </a:moveTo>
                    <a:lnTo>
                      <a:pt x="3072991" y="0"/>
                    </a:lnTo>
                    <a:cubicBezTo>
                      <a:pt x="3085622" y="0"/>
                      <a:pt x="3097736" y="5018"/>
                      <a:pt x="3106667" y="13949"/>
                    </a:cubicBezTo>
                    <a:cubicBezTo>
                      <a:pt x="3115598" y="22880"/>
                      <a:pt x="3120616" y="34994"/>
                      <a:pt x="3120616" y="47625"/>
                    </a:cubicBezTo>
                    <a:lnTo>
                      <a:pt x="3120616" y="1629946"/>
                    </a:lnTo>
                    <a:cubicBezTo>
                      <a:pt x="3120616" y="1656249"/>
                      <a:pt x="3099293" y="1677571"/>
                      <a:pt x="3072991" y="1677571"/>
                    </a:cubicBezTo>
                    <a:lnTo>
                      <a:pt x="47625" y="1677571"/>
                    </a:lnTo>
                    <a:cubicBezTo>
                      <a:pt x="34994" y="1677571"/>
                      <a:pt x="22880" y="1672553"/>
                      <a:pt x="13949" y="1663622"/>
                    </a:cubicBezTo>
                    <a:cubicBezTo>
                      <a:pt x="5018" y="1654691"/>
                      <a:pt x="0" y="1642577"/>
                      <a:pt x="0" y="1629946"/>
                    </a:cubicBezTo>
                    <a:lnTo>
                      <a:pt x="0" y="47625"/>
                    </a:lnTo>
                    <a:cubicBezTo>
                      <a:pt x="0" y="34994"/>
                      <a:pt x="5018" y="22880"/>
                      <a:pt x="13949" y="13949"/>
                    </a:cubicBezTo>
                    <a:cubicBezTo>
                      <a:pt x="22880" y="5018"/>
                      <a:pt x="34994" y="0"/>
                      <a:pt x="4762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ln w="19050" cap="rnd">
                <a:gradFill>
                  <a:gsLst>
                    <a:gs pos="0">
                      <a:srgbClr val="C55CD1">
                        <a:alpha val="100000"/>
                      </a:srgbClr>
                    </a:gs>
                    <a:gs pos="100000">
                      <a:srgbClr val="923ACD">
                        <a:alpha val="100000"/>
                      </a:srgbClr>
                    </a:gs>
                  </a:gsLst>
                  <a:lin ang="2700000"/>
                </a:gra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85725"/>
                <a:ext cx="3120616" cy="15918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319056" y="1775819"/>
              <a:ext cx="9417094" cy="3440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1133" indent="-265567" lvl="1">
                <a:lnSpc>
                  <a:spcPts val="3444"/>
                </a:lnSpc>
                <a:buFont typeface="Arial"/>
                <a:buChar char="•"/>
              </a:pPr>
              <a:r>
                <a:rPr lang="en-US" sz="246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 unified visual platform simplifies machine learning workflows and reduces technical complexity and effort.</a:t>
              </a:r>
            </a:p>
            <a:p>
              <a:pPr algn="l" marL="531133" indent="-265567" lvl="1">
                <a:lnSpc>
                  <a:spcPts val="3444"/>
                </a:lnSpc>
                <a:buFont typeface="Arial"/>
                <a:buChar char="•"/>
              </a:pPr>
              <a:r>
                <a:rPr lang="en-US" sz="246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Users build pipelines faster with automation, improving productivity and reducing development time.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762681" y="464057"/>
              <a:ext cx="7072931" cy="740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44"/>
                </a:lnSpc>
              </a:pPr>
              <a:r>
                <a:rPr lang="en-US" b="true" sz="3713" spc="-155">
                  <a:solidFill>
                    <a:srgbClr val="0E063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Solution Vision</a:t>
              </a:r>
            </a:p>
          </p:txBody>
        </p:sp>
        <p:sp>
          <p:nvSpPr>
            <p:cNvPr name="AutoShape 29" id="29"/>
            <p:cNvSpPr/>
            <p:nvPr/>
          </p:nvSpPr>
          <p:spPr>
            <a:xfrm flipV="true">
              <a:off x="762681" y="1408534"/>
              <a:ext cx="8186698" cy="0"/>
            </a:xfrm>
            <a:prstGeom prst="line">
              <a:avLst/>
            </a:prstGeom>
            <a:ln cap="flat" w="23580">
              <a:solidFill>
                <a:srgbClr val="0E0637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457765">
            <a:off x="-425717" y="-9272866"/>
            <a:ext cx="19140231" cy="191402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8457765">
            <a:off x="2148368" y="-6538878"/>
            <a:ext cx="13929461" cy="139294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0713" y="3161984"/>
            <a:ext cx="5346574" cy="6485965"/>
            <a:chOff x="0" y="0"/>
            <a:chExt cx="828324" cy="10048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8324" cy="1004846"/>
            </a:xfrm>
            <a:custGeom>
              <a:avLst/>
              <a:gdLst/>
              <a:ahLst/>
              <a:cxnLst/>
              <a:rect r="r" b="b" t="t" l="l"/>
              <a:pathLst>
                <a:path h="1004846" w="828324">
                  <a:moveTo>
                    <a:pt x="57921" y="0"/>
                  </a:moveTo>
                  <a:lnTo>
                    <a:pt x="770404" y="0"/>
                  </a:lnTo>
                  <a:cubicBezTo>
                    <a:pt x="802392" y="0"/>
                    <a:pt x="828324" y="25932"/>
                    <a:pt x="828324" y="57921"/>
                  </a:cubicBezTo>
                  <a:lnTo>
                    <a:pt x="828324" y="946925"/>
                  </a:lnTo>
                  <a:cubicBezTo>
                    <a:pt x="828324" y="978914"/>
                    <a:pt x="802392" y="1004846"/>
                    <a:pt x="770404" y="1004846"/>
                  </a:cubicBezTo>
                  <a:lnTo>
                    <a:pt x="57921" y="1004846"/>
                  </a:lnTo>
                  <a:cubicBezTo>
                    <a:pt x="25932" y="1004846"/>
                    <a:pt x="0" y="978914"/>
                    <a:pt x="0" y="946925"/>
                  </a:cubicBezTo>
                  <a:lnTo>
                    <a:pt x="0" y="57921"/>
                  </a:lnTo>
                  <a:cubicBezTo>
                    <a:pt x="0" y="25932"/>
                    <a:pt x="25932" y="0"/>
                    <a:pt x="5792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955" r="0" b="-495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3698522"/>
            <a:ext cx="4871842" cy="2528429"/>
            <a:chOff x="0" y="0"/>
            <a:chExt cx="1833774" cy="9517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37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774">
                  <a:moveTo>
                    <a:pt x="81045" y="0"/>
                  </a:moveTo>
                  <a:lnTo>
                    <a:pt x="1752729" y="0"/>
                  </a:lnTo>
                  <a:cubicBezTo>
                    <a:pt x="1797489" y="0"/>
                    <a:pt x="1833774" y="36285"/>
                    <a:pt x="1833774" y="81045"/>
                  </a:cubicBezTo>
                  <a:lnTo>
                    <a:pt x="1833774" y="870662"/>
                  </a:lnTo>
                  <a:cubicBezTo>
                    <a:pt x="1833774" y="915422"/>
                    <a:pt x="1797489" y="951707"/>
                    <a:pt x="1752729" y="951707"/>
                  </a:cubicBezTo>
                  <a:lnTo>
                    <a:pt x="81045" y="951707"/>
                  </a:lnTo>
                  <a:cubicBezTo>
                    <a:pt x="36285" y="951707"/>
                    <a:pt x="0" y="915422"/>
                    <a:pt x="0" y="870662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18337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821997"/>
            <a:ext cx="4871842" cy="2528429"/>
            <a:chOff x="0" y="0"/>
            <a:chExt cx="1833774" cy="9517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37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774">
                  <a:moveTo>
                    <a:pt x="81045" y="0"/>
                  </a:moveTo>
                  <a:lnTo>
                    <a:pt x="1752729" y="0"/>
                  </a:lnTo>
                  <a:cubicBezTo>
                    <a:pt x="1797489" y="0"/>
                    <a:pt x="1833774" y="36285"/>
                    <a:pt x="1833774" y="81045"/>
                  </a:cubicBezTo>
                  <a:lnTo>
                    <a:pt x="1833774" y="870662"/>
                  </a:lnTo>
                  <a:cubicBezTo>
                    <a:pt x="1833774" y="915422"/>
                    <a:pt x="1797489" y="951707"/>
                    <a:pt x="1752729" y="951707"/>
                  </a:cubicBezTo>
                  <a:lnTo>
                    <a:pt x="81045" y="951707"/>
                  </a:lnTo>
                  <a:cubicBezTo>
                    <a:pt x="36285" y="951707"/>
                    <a:pt x="0" y="915422"/>
                    <a:pt x="0" y="870662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18337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88787" y="3698522"/>
            <a:ext cx="4870513" cy="2528429"/>
            <a:chOff x="0" y="0"/>
            <a:chExt cx="1833274" cy="9517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332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274">
                  <a:moveTo>
                    <a:pt x="81067" y="0"/>
                  </a:moveTo>
                  <a:lnTo>
                    <a:pt x="1752207" y="0"/>
                  </a:lnTo>
                  <a:cubicBezTo>
                    <a:pt x="1773707" y="0"/>
                    <a:pt x="1794327" y="8541"/>
                    <a:pt x="1809530" y="23744"/>
                  </a:cubicBezTo>
                  <a:cubicBezTo>
                    <a:pt x="1824733" y="38947"/>
                    <a:pt x="1833274" y="59567"/>
                    <a:pt x="1833274" y="81067"/>
                  </a:cubicBezTo>
                  <a:lnTo>
                    <a:pt x="1833274" y="870640"/>
                  </a:lnTo>
                  <a:cubicBezTo>
                    <a:pt x="1833274" y="892141"/>
                    <a:pt x="1824733" y="912760"/>
                    <a:pt x="1809530" y="927963"/>
                  </a:cubicBezTo>
                  <a:cubicBezTo>
                    <a:pt x="1794327" y="943166"/>
                    <a:pt x="1773707" y="951707"/>
                    <a:pt x="1752207" y="951707"/>
                  </a:cubicBezTo>
                  <a:lnTo>
                    <a:pt x="81067" y="951707"/>
                  </a:lnTo>
                  <a:cubicBezTo>
                    <a:pt x="59567" y="951707"/>
                    <a:pt x="38947" y="943166"/>
                    <a:pt x="23744" y="927963"/>
                  </a:cubicBezTo>
                  <a:cubicBezTo>
                    <a:pt x="8541" y="912760"/>
                    <a:pt x="0" y="892141"/>
                    <a:pt x="0" y="870640"/>
                  </a:cubicBezTo>
                  <a:lnTo>
                    <a:pt x="0" y="81067"/>
                  </a:lnTo>
                  <a:cubicBezTo>
                    <a:pt x="0" y="59567"/>
                    <a:pt x="8541" y="38947"/>
                    <a:pt x="23744" y="23744"/>
                  </a:cubicBezTo>
                  <a:cubicBezTo>
                    <a:pt x="38947" y="8541"/>
                    <a:pt x="59567" y="0"/>
                    <a:pt x="8106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18332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88787" y="6821997"/>
            <a:ext cx="4870513" cy="2528429"/>
            <a:chOff x="0" y="0"/>
            <a:chExt cx="1833274" cy="9517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332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274">
                  <a:moveTo>
                    <a:pt x="81067" y="0"/>
                  </a:moveTo>
                  <a:lnTo>
                    <a:pt x="1752207" y="0"/>
                  </a:lnTo>
                  <a:cubicBezTo>
                    <a:pt x="1773707" y="0"/>
                    <a:pt x="1794327" y="8541"/>
                    <a:pt x="1809530" y="23744"/>
                  </a:cubicBezTo>
                  <a:cubicBezTo>
                    <a:pt x="1824733" y="38947"/>
                    <a:pt x="1833274" y="59567"/>
                    <a:pt x="1833274" y="81067"/>
                  </a:cubicBezTo>
                  <a:lnTo>
                    <a:pt x="1833274" y="870640"/>
                  </a:lnTo>
                  <a:cubicBezTo>
                    <a:pt x="1833274" y="892141"/>
                    <a:pt x="1824733" y="912760"/>
                    <a:pt x="1809530" y="927963"/>
                  </a:cubicBezTo>
                  <a:cubicBezTo>
                    <a:pt x="1794327" y="943166"/>
                    <a:pt x="1773707" y="951707"/>
                    <a:pt x="1752207" y="951707"/>
                  </a:cubicBezTo>
                  <a:lnTo>
                    <a:pt x="81067" y="951707"/>
                  </a:lnTo>
                  <a:cubicBezTo>
                    <a:pt x="59567" y="951707"/>
                    <a:pt x="38947" y="943166"/>
                    <a:pt x="23744" y="927963"/>
                  </a:cubicBezTo>
                  <a:cubicBezTo>
                    <a:pt x="8541" y="912760"/>
                    <a:pt x="0" y="892141"/>
                    <a:pt x="0" y="870640"/>
                  </a:cubicBezTo>
                  <a:lnTo>
                    <a:pt x="0" y="81067"/>
                  </a:lnTo>
                  <a:cubicBezTo>
                    <a:pt x="0" y="59567"/>
                    <a:pt x="8541" y="38947"/>
                    <a:pt x="23744" y="23744"/>
                  </a:cubicBezTo>
                  <a:cubicBezTo>
                    <a:pt x="38947" y="8541"/>
                    <a:pt x="59567" y="0"/>
                    <a:pt x="810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18332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85414" y="696555"/>
            <a:ext cx="15317172" cy="153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6" spc="-43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Objectives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8378" y="3945862"/>
            <a:ext cx="2282418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🎯 Simplify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9689" y="4510923"/>
            <a:ext cx="3937070" cy="146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Simplify end-to-end machine learning workflows, improving productivity and reducing development time.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4034" y="7083083"/>
            <a:ext cx="2282418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🧩</a:t>
            </a: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Visualize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5345" y="7648144"/>
            <a:ext cx="3937070" cy="146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Enab</a:t>
            </a: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le visual drag-and-drop pipeline building, simplifying workflow design and model development.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75154" y="3969133"/>
            <a:ext cx="2282418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⚙️</a:t>
            </a: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Automate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46466" y="4534193"/>
            <a:ext cx="3937070" cy="146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Au</a:t>
            </a: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tomate preprocessing and model selection, reducing manual effort and improving efficiency.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75154" y="7083083"/>
            <a:ext cx="2282418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📊</a:t>
            </a: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Analyze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46466" y="7648144"/>
            <a:ext cx="3937070" cy="146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Prov</a:t>
            </a: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ide model comparison and performance insights, supporting better decision -making.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8463395">
            <a:off x="-1200863" y="-4604429"/>
            <a:ext cx="20689726" cy="19495858"/>
          </a:xfrm>
          <a:custGeom>
            <a:avLst/>
            <a:gdLst/>
            <a:ahLst/>
            <a:cxnLst/>
            <a:rect r="r" b="b" t="t" l="l"/>
            <a:pathLst>
              <a:path h="19495858" w="20689726">
                <a:moveTo>
                  <a:pt x="6465919" y="19495858"/>
                </a:moveTo>
                <a:lnTo>
                  <a:pt x="20689726" y="8000892"/>
                </a:lnTo>
                <a:lnTo>
                  <a:pt x="14223807" y="0"/>
                </a:lnTo>
                <a:lnTo>
                  <a:pt x="0" y="11494966"/>
                </a:lnTo>
                <a:lnTo>
                  <a:pt x="6465919" y="19495858"/>
                </a:lnTo>
                <a:close/>
              </a:path>
            </a:pathLst>
          </a:custGeom>
          <a:blipFill>
            <a:blip r:embed="rId2"/>
            <a:stretch>
              <a:fillRect l="-4483" t="0" r="-3694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03437" y="783238"/>
            <a:ext cx="5779094" cy="8736633"/>
            <a:chOff x="0" y="0"/>
            <a:chExt cx="895333" cy="13535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5333" cy="1353533"/>
            </a:xfrm>
            <a:custGeom>
              <a:avLst/>
              <a:gdLst/>
              <a:ahLst/>
              <a:cxnLst/>
              <a:rect r="r" b="b" t="t" l="l"/>
              <a:pathLst>
                <a:path h="1353533" w="895333">
                  <a:moveTo>
                    <a:pt x="53586" y="0"/>
                  </a:moveTo>
                  <a:lnTo>
                    <a:pt x="841747" y="0"/>
                  </a:lnTo>
                  <a:cubicBezTo>
                    <a:pt x="855959" y="0"/>
                    <a:pt x="869589" y="5646"/>
                    <a:pt x="879638" y="15695"/>
                  </a:cubicBezTo>
                  <a:cubicBezTo>
                    <a:pt x="889687" y="25744"/>
                    <a:pt x="895333" y="39374"/>
                    <a:pt x="895333" y="53586"/>
                  </a:cubicBezTo>
                  <a:lnTo>
                    <a:pt x="895333" y="1299947"/>
                  </a:lnTo>
                  <a:cubicBezTo>
                    <a:pt x="895333" y="1314159"/>
                    <a:pt x="889687" y="1327789"/>
                    <a:pt x="879638" y="1337838"/>
                  </a:cubicBezTo>
                  <a:cubicBezTo>
                    <a:pt x="869589" y="1347887"/>
                    <a:pt x="855959" y="1353533"/>
                    <a:pt x="841747" y="1353533"/>
                  </a:cubicBezTo>
                  <a:lnTo>
                    <a:pt x="53586" y="1353533"/>
                  </a:lnTo>
                  <a:cubicBezTo>
                    <a:pt x="39374" y="1353533"/>
                    <a:pt x="25744" y="1347887"/>
                    <a:pt x="15695" y="1337838"/>
                  </a:cubicBezTo>
                  <a:cubicBezTo>
                    <a:pt x="5646" y="1327789"/>
                    <a:pt x="0" y="1314159"/>
                    <a:pt x="0" y="1299947"/>
                  </a:cubicBezTo>
                  <a:lnTo>
                    <a:pt x="0" y="53586"/>
                  </a:lnTo>
                  <a:cubicBezTo>
                    <a:pt x="0" y="39374"/>
                    <a:pt x="5646" y="25744"/>
                    <a:pt x="15695" y="15695"/>
                  </a:cubicBezTo>
                  <a:cubicBezTo>
                    <a:pt x="25744" y="5646"/>
                    <a:pt x="39374" y="0"/>
                    <a:pt x="53586" y="0"/>
                  </a:cubicBezTo>
                  <a:close/>
                </a:path>
              </a:pathLst>
            </a:custGeom>
            <a:blipFill>
              <a:blip r:embed="rId3"/>
              <a:stretch>
                <a:fillRect l="-6691" t="0" r="-6691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Freeform 5" id="5"/>
          <p:cNvSpPr/>
          <p:nvPr/>
        </p:nvSpPr>
        <p:spPr>
          <a:xfrm flipH="false" flipV="true" rot="-5400000">
            <a:off x="9565568" y="7105623"/>
            <a:ext cx="4029852" cy="798643"/>
          </a:xfrm>
          <a:custGeom>
            <a:avLst/>
            <a:gdLst/>
            <a:ahLst/>
            <a:cxnLst/>
            <a:rect r="r" b="b" t="t" l="l"/>
            <a:pathLst>
              <a:path h="798643" w="4029852">
                <a:moveTo>
                  <a:pt x="0" y="798644"/>
                </a:moveTo>
                <a:lnTo>
                  <a:pt x="4029852" y="798644"/>
                </a:lnTo>
                <a:lnTo>
                  <a:pt x="4029852" y="0"/>
                </a:lnTo>
                <a:lnTo>
                  <a:pt x="0" y="0"/>
                </a:lnTo>
                <a:lnTo>
                  <a:pt x="0" y="798644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9278497">
            <a:off x="10451951" y="3721633"/>
            <a:ext cx="10178180" cy="1017818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9278497">
            <a:off x="12286055" y="5508827"/>
            <a:ext cx="6657413" cy="665741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78141" y="4365845"/>
            <a:ext cx="9815643" cy="4909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36" indent="-280668" lvl="1">
              <a:lnSpc>
                <a:spcPts val="3535"/>
              </a:lnSpc>
              <a:buFont typeface="Arial"/>
              <a:buChar char="•"/>
            </a:pPr>
            <a:r>
              <a:rPr lang="en-US" sz="2599" spc="-5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FlowML provides a drag-and-drop interface to build complete machine learning pipelines by connecting dataset upload, preprocessing, model training, and prediction in a single workflow.</a:t>
            </a:r>
          </a:p>
          <a:p>
            <a:pPr algn="just" marL="561336" indent="-280668" lvl="1">
              <a:lnSpc>
                <a:spcPts val="3535"/>
              </a:lnSpc>
              <a:buFont typeface="Arial"/>
              <a:buChar char="•"/>
            </a:pPr>
            <a:r>
              <a:rPr lang="en-US" sz="2599" spc="-5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The platform automatically analyzes datasets, handles missing values, trains multiple models, and selects the best-performing model based on evaluation metrics.</a:t>
            </a:r>
          </a:p>
          <a:p>
            <a:pPr algn="just" marL="561336" indent="-280668" lvl="1">
              <a:lnSpc>
                <a:spcPts val="3535"/>
              </a:lnSpc>
              <a:buFont typeface="Arial"/>
              <a:buChar char="•"/>
            </a:pPr>
            <a:r>
              <a:rPr lang="en-US" sz="2599" spc="-5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FlowML also generates visual insights such as correlation analysis, feature importance, and performance charts, while enabling predictions and model export for end-to-end workflow execution.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7412" y="821338"/>
            <a:ext cx="10083044" cy="321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34"/>
              </a:lnSpc>
            </a:pPr>
            <a:r>
              <a:rPr lang="en-US" sz="10899" spc="-457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</a:t>
            </a:r>
          </a:p>
          <a:p>
            <a:pPr algn="l">
              <a:lnSpc>
                <a:spcPts val="12534"/>
              </a:lnSpc>
            </a:pPr>
            <a:r>
              <a:rPr lang="en-US" b="true" sz="10899" spc="-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4240293" y="-3978498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7150129" y="-1068662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85875" y="2494209"/>
            <a:ext cx="17350393" cy="8389065"/>
          </a:xfrm>
          <a:custGeom>
            <a:avLst/>
            <a:gdLst/>
            <a:ahLst/>
            <a:cxnLst/>
            <a:rect r="r" b="b" t="t" l="l"/>
            <a:pathLst>
              <a:path h="8389065" w="17350393">
                <a:moveTo>
                  <a:pt x="0" y="0"/>
                </a:moveTo>
                <a:lnTo>
                  <a:pt x="17350393" y="0"/>
                </a:lnTo>
                <a:lnTo>
                  <a:pt x="17350393" y="8389065"/>
                </a:lnTo>
                <a:lnTo>
                  <a:pt x="0" y="83890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2717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73942" y="1604592"/>
            <a:ext cx="7885358" cy="3155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401"/>
              </a:lnSpc>
            </a:pPr>
            <a:r>
              <a:rPr lang="en-US" b="true" sz="10599" spc="-44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Architecture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2266829"/>
            <a:ext cx="6385801" cy="2700643"/>
            <a:chOff x="0" y="0"/>
            <a:chExt cx="8514401" cy="360085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514401" cy="3600857"/>
              <a:chOff x="0" y="0"/>
              <a:chExt cx="3640407" cy="153957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3640408" cy="1539578"/>
              </a:xfrm>
              <a:custGeom>
                <a:avLst/>
                <a:gdLst/>
                <a:ahLst/>
                <a:cxnLst/>
                <a:rect r="r" b="b" t="t" l="l"/>
                <a:pathLst>
                  <a:path h="1539578" w="3640408">
                    <a:moveTo>
                      <a:pt x="40825" y="0"/>
                    </a:moveTo>
                    <a:lnTo>
                      <a:pt x="3599583" y="0"/>
                    </a:lnTo>
                    <a:cubicBezTo>
                      <a:pt x="3622130" y="0"/>
                      <a:pt x="3640408" y="18278"/>
                      <a:pt x="3640408" y="40825"/>
                    </a:cubicBezTo>
                    <a:lnTo>
                      <a:pt x="3640408" y="1498754"/>
                    </a:lnTo>
                    <a:cubicBezTo>
                      <a:pt x="3640408" y="1521301"/>
                      <a:pt x="3622130" y="1539578"/>
                      <a:pt x="3599583" y="1539578"/>
                    </a:cubicBezTo>
                    <a:lnTo>
                      <a:pt x="40825" y="1539578"/>
                    </a:lnTo>
                    <a:cubicBezTo>
                      <a:pt x="29997" y="1539578"/>
                      <a:pt x="19613" y="1535277"/>
                      <a:pt x="11957" y="1527621"/>
                    </a:cubicBezTo>
                    <a:cubicBezTo>
                      <a:pt x="4301" y="1519965"/>
                      <a:pt x="0" y="1509581"/>
                      <a:pt x="0" y="1498754"/>
                    </a:cubicBezTo>
                    <a:lnTo>
                      <a:pt x="0" y="40825"/>
                    </a:lnTo>
                    <a:cubicBezTo>
                      <a:pt x="0" y="18278"/>
                      <a:pt x="18278" y="0"/>
                      <a:pt x="40825" y="0"/>
                    </a:cubicBezTo>
                    <a:close/>
                  </a:path>
                </a:pathLst>
              </a:custGeom>
              <a:solidFill>
                <a:srgbClr val="F8F6F7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85725"/>
                <a:ext cx="3640407" cy="145385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18555" y="427129"/>
              <a:ext cx="7952005" cy="272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2"/>
                </a:lnSpc>
              </a:pPr>
              <a:r>
                <a:rPr lang="en-US" sz="1969" b="true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Architecture Components:</a:t>
              </a:r>
            </a:p>
            <a:p>
              <a:pPr algn="l">
                <a:lnSpc>
                  <a:spcPts val="2691"/>
                </a:lnSpc>
              </a:pPr>
              <a:r>
                <a:rPr lang="en-US" sz="1770">
                  <a:solidFill>
                    <a:srgbClr val="00000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React Frontend - Visual pipeline builder interface</a:t>
              </a:r>
            </a:p>
            <a:p>
              <a:pPr algn="l">
                <a:lnSpc>
                  <a:spcPts val="2691"/>
                </a:lnSpc>
              </a:pPr>
              <a:r>
                <a:rPr lang="en-US" sz="1770">
                  <a:solidFill>
                    <a:srgbClr val="00000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FastAPI Backend - Workflow execution and API handling</a:t>
              </a:r>
            </a:p>
            <a:p>
              <a:pPr algn="l">
                <a:lnSpc>
                  <a:spcPts val="2691"/>
                </a:lnSpc>
              </a:pPr>
              <a:r>
                <a:rPr lang="en-US" sz="1770">
                  <a:solidFill>
                    <a:srgbClr val="00000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Data Processing Layer - Dataset preprocessing engine</a:t>
              </a:r>
            </a:p>
            <a:p>
              <a:pPr algn="l">
                <a:lnSpc>
                  <a:spcPts val="2691"/>
                </a:lnSpc>
              </a:pPr>
              <a:r>
                <a:rPr lang="en-US" sz="1770">
                  <a:solidFill>
                    <a:srgbClr val="00000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Machine Learning Layer - Scikit‑learn model training</a:t>
              </a:r>
            </a:p>
            <a:p>
              <a:pPr algn="l">
                <a:lnSpc>
                  <a:spcPts val="2691"/>
                </a:lnSpc>
              </a:pPr>
              <a:r>
                <a:rPr lang="en-US" sz="1770">
                  <a:solidFill>
                    <a:srgbClr val="000000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• Visualization Layer - Charts and insights dashboard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-5455214" y="259623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-2545378" y="2475015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079551" y="1084639"/>
            <a:ext cx="6289764" cy="4058861"/>
            <a:chOff x="0" y="0"/>
            <a:chExt cx="8386352" cy="541181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956039" cy="5411815"/>
              <a:chOff x="0" y="0"/>
              <a:chExt cx="1681402" cy="152776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81402" cy="1527766"/>
              </a:xfrm>
              <a:custGeom>
                <a:avLst/>
                <a:gdLst/>
                <a:ahLst/>
                <a:cxnLst/>
                <a:rect r="r" b="b" t="t" l="l"/>
                <a:pathLst>
                  <a:path h="1527766" w="1681402">
                    <a:moveTo>
                      <a:pt x="88389" y="0"/>
                    </a:moveTo>
                    <a:lnTo>
                      <a:pt x="1593012" y="0"/>
                    </a:lnTo>
                    <a:cubicBezTo>
                      <a:pt x="1616455" y="0"/>
                      <a:pt x="1638937" y="9312"/>
                      <a:pt x="1655513" y="25889"/>
                    </a:cubicBezTo>
                    <a:cubicBezTo>
                      <a:pt x="1672089" y="42465"/>
                      <a:pt x="1681402" y="64947"/>
                      <a:pt x="1681402" y="88389"/>
                    </a:cubicBezTo>
                    <a:lnTo>
                      <a:pt x="1681402" y="1439377"/>
                    </a:lnTo>
                    <a:cubicBezTo>
                      <a:pt x="1681402" y="1488193"/>
                      <a:pt x="1641828" y="1527766"/>
                      <a:pt x="1593012" y="1527766"/>
                    </a:cubicBezTo>
                    <a:lnTo>
                      <a:pt x="88389" y="1527766"/>
                    </a:lnTo>
                    <a:cubicBezTo>
                      <a:pt x="39573" y="1527766"/>
                      <a:pt x="0" y="1488193"/>
                      <a:pt x="0" y="1439377"/>
                    </a:cubicBezTo>
                    <a:lnTo>
                      <a:pt x="0" y="88389"/>
                    </a:lnTo>
                    <a:cubicBezTo>
                      <a:pt x="0" y="39573"/>
                      <a:pt x="39573" y="0"/>
                      <a:pt x="88389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245C4">
                      <a:alpha val="100000"/>
                    </a:srgbClr>
                  </a:gs>
                  <a:gs pos="100000">
                    <a:srgbClr val="AD64DD">
                      <a:alpha val="100000"/>
                    </a:srgbClr>
                  </a:gs>
                </a:gsLst>
                <a:lin ang="0"/>
              </a:gra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85725"/>
                <a:ext cx="1681402" cy="1442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42613" y="478713"/>
              <a:ext cx="7943739" cy="733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91"/>
                </a:lnSpc>
              </a:pPr>
              <a:r>
                <a:rPr lang="en-US" sz="3599" spc="-75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Backend Tech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34200" y="1544665"/>
              <a:ext cx="5167948" cy="351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FastAPI</a:t>
              </a:r>
            </a:p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Python</a:t>
              </a:r>
            </a:p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REST APIs</a:t>
              </a:r>
            </a:p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Async Processing</a:t>
              </a:r>
            </a:p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 Modular Architecture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442613" y="1407231"/>
              <a:ext cx="4261983" cy="0"/>
            </a:xfrm>
            <a:prstGeom prst="line">
              <a:avLst/>
            </a:prstGeom>
            <a:ln cap="flat" w="25400">
              <a:solidFill>
                <a:srgbClr val="F8F6F7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278764" y="5455903"/>
            <a:ext cx="6503346" cy="4058861"/>
            <a:chOff x="0" y="0"/>
            <a:chExt cx="8671129" cy="541181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158289" cy="5411815"/>
              <a:chOff x="0" y="0"/>
              <a:chExt cx="1738497" cy="152776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738497" cy="1527766"/>
              </a:xfrm>
              <a:custGeom>
                <a:avLst/>
                <a:gdLst/>
                <a:ahLst/>
                <a:cxnLst/>
                <a:rect r="r" b="b" t="t" l="l"/>
                <a:pathLst>
                  <a:path h="1527766" w="1738497">
                    <a:moveTo>
                      <a:pt x="85487" y="0"/>
                    </a:moveTo>
                    <a:lnTo>
                      <a:pt x="1653011" y="0"/>
                    </a:lnTo>
                    <a:cubicBezTo>
                      <a:pt x="1675683" y="0"/>
                      <a:pt x="1697427" y="9007"/>
                      <a:pt x="1713459" y="25038"/>
                    </a:cubicBezTo>
                    <a:cubicBezTo>
                      <a:pt x="1729491" y="41070"/>
                      <a:pt x="1738497" y="62814"/>
                      <a:pt x="1738497" y="85487"/>
                    </a:cubicBezTo>
                    <a:lnTo>
                      <a:pt x="1738497" y="1442280"/>
                    </a:lnTo>
                    <a:cubicBezTo>
                      <a:pt x="1738497" y="1464952"/>
                      <a:pt x="1729491" y="1486696"/>
                      <a:pt x="1713459" y="1502728"/>
                    </a:cubicBezTo>
                    <a:cubicBezTo>
                      <a:pt x="1697427" y="1518759"/>
                      <a:pt x="1675683" y="1527766"/>
                      <a:pt x="1653011" y="1527766"/>
                    </a:cubicBezTo>
                    <a:lnTo>
                      <a:pt x="85487" y="1527766"/>
                    </a:lnTo>
                    <a:cubicBezTo>
                      <a:pt x="62814" y="1527766"/>
                      <a:pt x="41070" y="1518759"/>
                      <a:pt x="25038" y="1502728"/>
                    </a:cubicBezTo>
                    <a:cubicBezTo>
                      <a:pt x="9007" y="1486696"/>
                      <a:pt x="0" y="1464952"/>
                      <a:pt x="0" y="1442280"/>
                    </a:cubicBezTo>
                    <a:lnTo>
                      <a:pt x="0" y="85487"/>
                    </a:lnTo>
                    <a:cubicBezTo>
                      <a:pt x="0" y="62814"/>
                      <a:pt x="9007" y="41070"/>
                      <a:pt x="25038" y="25038"/>
                    </a:cubicBezTo>
                    <a:cubicBezTo>
                      <a:pt x="41070" y="9007"/>
                      <a:pt x="62814" y="0"/>
                      <a:pt x="85487" y="0"/>
                    </a:cubicBezTo>
                    <a:close/>
                  </a:path>
                </a:pathLst>
              </a:custGeom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85725"/>
                <a:ext cx="1738497" cy="1442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57643" y="478713"/>
              <a:ext cx="8213486" cy="7339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91"/>
                </a:lnSpc>
              </a:pPr>
              <a:r>
                <a:rPr lang="en-US" sz="3599" spc="-75" b="true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Frontend Tech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35361" y="1544665"/>
              <a:ext cx="6432890" cy="351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</a:t>
              </a: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act</a:t>
              </a:r>
            </a:p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Tailwind CSS</a:t>
              </a:r>
            </a:p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React Flow</a:t>
              </a:r>
            </a:p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Framer Motion</a:t>
              </a:r>
            </a:p>
            <a:p>
              <a:pPr algn="l" marL="647702" indent="-323851" lvl="1">
                <a:lnSpc>
                  <a:spcPts val="4200"/>
                </a:lnSpc>
                <a:buAutoNum type="arabicPeriod" startAt="1"/>
              </a:pPr>
              <a:r>
                <a:rPr lang="en-US" sz="3000" spc="-225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Modern UI Components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457643" y="1407231"/>
              <a:ext cx="4406708" cy="0"/>
            </a:xfrm>
            <a:prstGeom prst="line">
              <a:avLst/>
            </a:prstGeom>
            <a:ln cap="flat" w="25400">
              <a:solidFill>
                <a:srgbClr val="F8F6F7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266825" y="5455903"/>
            <a:ext cx="3533385" cy="3261506"/>
            <a:chOff x="0" y="0"/>
            <a:chExt cx="4711180" cy="4348675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4193176" cy="4348675"/>
              <a:chOff x="0" y="0"/>
              <a:chExt cx="1183742" cy="122764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183742" cy="1227640"/>
              </a:xfrm>
              <a:custGeom>
                <a:avLst/>
                <a:gdLst/>
                <a:ahLst/>
                <a:cxnLst/>
                <a:rect r="r" b="b" t="t" l="l"/>
                <a:pathLst>
                  <a:path h="1227640" w="1183742">
                    <a:moveTo>
                      <a:pt x="125549" y="0"/>
                    </a:moveTo>
                    <a:lnTo>
                      <a:pt x="1058193" y="0"/>
                    </a:lnTo>
                    <a:cubicBezTo>
                      <a:pt x="1127532" y="0"/>
                      <a:pt x="1183742" y="56210"/>
                      <a:pt x="1183742" y="125549"/>
                    </a:cubicBezTo>
                    <a:lnTo>
                      <a:pt x="1183742" y="1102090"/>
                    </a:lnTo>
                    <a:cubicBezTo>
                      <a:pt x="1183742" y="1171429"/>
                      <a:pt x="1127532" y="1227640"/>
                      <a:pt x="1058193" y="1227640"/>
                    </a:cubicBezTo>
                    <a:lnTo>
                      <a:pt x="125549" y="1227640"/>
                    </a:lnTo>
                    <a:cubicBezTo>
                      <a:pt x="56210" y="1227640"/>
                      <a:pt x="0" y="1171429"/>
                      <a:pt x="0" y="1102090"/>
                    </a:cubicBezTo>
                    <a:lnTo>
                      <a:pt x="0" y="125549"/>
                    </a:lnTo>
                    <a:cubicBezTo>
                      <a:pt x="0" y="56210"/>
                      <a:pt x="56210" y="0"/>
                      <a:pt x="125549" y="0"/>
                    </a:cubicBezTo>
                    <a:close/>
                  </a:path>
                </a:pathLst>
              </a:custGeom>
              <a:solidFill>
                <a:srgbClr val="F8F6F7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85725"/>
                <a:ext cx="1183742" cy="114191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573526" y="397152"/>
              <a:ext cx="4137654" cy="12456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64"/>
                </a:lnSpc>
                <a:spcBef>
                  <a:spcPct val="0"/>
                </a:spcBef>
              </a:pPr>
              <a:r>
                <a:rPr lang="en-US" b="true" sz="3600" spc="-140">
                  <a:solidFill>
                    <a:srgbClr val="0E0637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Machine Learning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902517"/>
              <a:ext cx="3299301" cy="2196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90881" indent="-345440" lvl="1">
                <a:lnSpc>
                  <a:spcPts val="4480"/>
                </a:lnSpc>
                <a:buAutoNum type="arabicPeriod" startAt="1"/>
              </a:pPr>
              <a:r>
                <a:rPr lang="en-US" sz="3200" spc="-24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Scikit-learn</a:t>
              </a:r>
            </a:p>
            <a:p>
              <a:pPr algn="l" marL="690881" indent="-345440" lvl="1">
                <a:lnSpc>
                  <a:spcPts val="4480"/>
                </a:lnSpc>
                <a:buAutoNum type="arabicPeriod" startAt="1"/>
              </a:pPr>
              <a:r>
                <a:rPr lang="en-US" sz="3200" spc="-24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Pandas</a:t>
              </a:r>
            </a:p>
            <a:p>
              <a:pPr algn="l" marL="690881" indent="-345440" lvl="1">
                <a:lnSpc>
                  <a:spcPts val="4480"/>
                </a:lnSpc>
                <a:buAutoNum type="arabicPeriod" startAt="1"/>
              </a:pPr>
              <a:r>
                <a:rPr lang="en-US" sz="3200" spc="-24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NumPy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877624" y="3413904"/>
            <a:ext cx="1861821" cy="1729596"/>
            <a:chOff x="0" y="0"/>
            <a:chExt cx="2482427" cy="2306128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2482427" cy="2306128"/>
              <a:chOff x="0" y="0"/>
              <a:chExt cx="942190" cy="87527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42190" cy="875277"/>
              </a:xfrm>
              <a:custGeom>
                <a:avLst/>
                <a:gdLst/>
                <a:ahLst/>
                <a:cxnLst/>
                <a:rect r="r" b="b" t="t" l="l"/>
                <a:pathLst>
                  <a:path h="875277" w="942190">
                    <a:moveTo>
                      <a:pt x="157737" y="0"/>
                    </a:moveTo>
                    <a:lnTo>
                      <a:pt x="784453" y="0"/>
                    </a:lnTo>
                    <a:cubicBezTo>
                      <a:pt x="871569" y="0"/>
                      <a:pt x="942190" y="70621"/>
                      <a:pt x="942190" y="157737"/>
                    </a:cubicBezTo>
                    <a:lnTo>
                      <a:pt x="942190" y="717540"/>
                    </a:lnTo>
                    <a:cubicBezTo>
                      <a:pt x="942190" y="804656"/>
                      <a:pt x="871569" y="875277"/>
                      <a:pt x="784453" y="875277"/>
                    </a:cubicBezTo>
                    <a:lnTo>
                      <a:pt x="157737" y="875277"/>
                    </a:lnTo>
                    <a:cubicBezTo>
                      <a:pt x="70621" y="875277"/>
                      <a:pt x="0" y="804656"/>
                      <a:pt x="0" y="717540"/>
                    </a:cubicBezTo>
                    <a:lnTo>
                      <a:pt x="0" y="157737"/>
                    </a:lnTo>
                    <a:cubicBezTo>
                      <a:pt x="0" y="70621"/>
                      <a:pt x="70621" y="0"/>
                      <a:pt x="157737" y="0"/>
                    </a:cubicBezTo>
                    <a:close/>
                  </a:path>
                </a:pathLst>
              </a:custGeom>
              <a:solidFill>
                <a:srgbClr val="F8F6F7"/>
              </a:solidFill>
              <a:ln w="19050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85725"/>
                <a:ext cx="942190" cy="78955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402799" y="582957"/>
              <a:ext cx="1628878" cy="1140215"/>
            </a:xfrm>
            <a:custGeom>
              <a:avLst/>
              <a:gdLst/>
              <a:ahLst/>
              <a:cxnLst/>
              <a:rect r="r" b="b" t="t" l="l"/>
              <a:pathLst>
                <a:path h="1140215" w="1628878">
                  <a:moveTo>
                    <a:pt x="0" y="0"/>
                  </a:moveTo>
                  <a:lnTo>
                    <a:pt x="1628879" y="0"/>
                  </a:lnTo>
                  <a:lnTo>
                    <a:pt x="1628879" y="1140215"/>
                  </a:lnTo>
                  <a:lnTo>
                    <a:pt x="0" y="11402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00551" y="742545"/>
            <a:ext cx="5874310" cy="3260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52"/>
              </a:lnSpc>
            </a:pPr>
            <a:r>
              <a:rPr lang="en-US" b="true" sz="10899" spc="-45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 Stack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0551" y="3948535"/>
            <a:ext cx="7096278" cy="2957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  <a:spcBef>
                <a:spcPct val="0"/>
              </a:spcBef>
            </a:pPr>
            <a:r>
              <a:rPr lang="en-US" sz="2809" spc="-2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809" spc="-21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odern tools and frameworks enabling seamless, scalable, and efficient FlowML development.</a:t>
            </a:r>
          </a:p>
          <a:p>
            <a:pPr algn="l">
              <a:lnSpc>
                <a:spcPts val="3933"/>
              </a:lnSpc>
              <a:spcBef>
                <a:spcPct val="0"/>
              </a:spcBef>
            </a:pPr>
          </a:p>
          <a:p>
            <a:pPr algn="l">
              <a:lnSpc>
                <a:spcPts val="3933"/>
              </a:lnSpc>
              <a:spcBef>
                <a:spcPct val="0"/>
              </a:spcBef>
            </a:pPr>
          </a:p>
          <a:p>
            <a:pPr algn="l">
              <a:lnSpc>
                <a:spcPts val="3933"/>
              </a:lnSpc>
              <a:spcBef>
                <a:spcPct val="0"/>
              </a:spcBef>
            </a:pPr>
          </a:p>
          <a:p>
            <a:pPr algn="l">
              <a:lnSpc>
                <a:spcPts val="39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457765">
            <a:off x="-425717" y="-9272866"/>
            <a:ext cx="19140231" cy="1914023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8457765">
            <a:off x="2148368" y="-6538878"/>
            <a:ext cx="13929461" cy="1392946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70713" y="3161984"/>
            <a:ext cx="5346574" cy="6485965"/>
            <a:chOff x="0" y="0"/>
            <a:chExt cx="828324" cy="10048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8324" cy="1004846"/>
            </a:xfrm>
            <a:custGeom>
              <a:avLst/>
              <a:gdLst/>
              <a:ahLst/>
              <a:cxnLst/>
              <a:rect r="r" b="b" t="t" l="l"/>
              <a:pathLst>
                <a:path h="1004846" w="828324">
                  <a:moveTo>
                    <a:pt x="57921" y="0"/>
                  </a:moveTo>
                  <a:lnTo>
                    <a:pt x="770404" y="0"/>
                  </a:lnTo>
                  <a:cubicBezTo>
                    <a:pt x="802392" y="0"/>
                    <a:pt x="828324" y="25932"/>
                    <a:pt x="828324" y="57921"/>
                  </a:cubicBezTo>
                  <a:lnTo>
                    <a:pt x="828324" y="946925"/>
                  </a:lnTo>
                  <a:cubicBezTo>
                    <a:pt x="828324" y="978914"/>
                    <a:pt x="802392" y="1004846"/>
                    <a:pt x="770404" y="1004846"/>
                  </a:cubicBezTo>
                  <a:lnTo>
                    <a:pt x="57921" y="1004846"/>
                  </a:lnTo>
                  <a:cubicBezTo>
                    <a:pt x="25932" y="1004846"/>
                    <a:pt x="0" y="978914"/>
                    <a:pt x="0" y="946925"/>
                  </a:cubicBezTo>
                  <a:lnTo>
                    <a:pt x="0" y="57921"/>
                  </a:lnTo>
                  <a:cubicBezTo>
                    <a:pt x="0" y="25932"/>
                    <a:pt x="25932" y="0"/>
                    <a:pt x="5792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4955" r="0" b="-495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3698522"/>
            <a:ext cx="4871842" cy="2528429"/>
            <a:chOff x="0" y="0"/>
            <a:chExt cx="1833774" cy="9517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337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774">
                  <a:moveTo>
                    <a:pt x="81045" y="0"/>
                  </a:moveTo>
                  <a:lnTo>
                    <a:pt x="1752729" y="0"/>
                  </a:lnTo>
                  <a:cubicBezTo>
                    <a:pt x="1797489" y="0"/>
                    <a:pt x="1833774" y="36285"/>
                    <a:pt x="1833774" y="81045"/>
                  </a:cubicBezTo>
                  <a:lnTo>
                    <a:pt x="1833774" y="870662"/>
                  </a:lnTo>
                  <a:cubicBezTo>
                    <a:pt x="1833774" y="915422"/>
                    <a:pt x="1797489" y="951707"/>
                    <a:pt x="1752729" y="951707"/>
                  </a:cubicBezTo>
                  <a:lnTo>
                    <a:pt x="81045" y="951707"/>
                  </a:lnTo>
                  <a:cubicBezTo>
                    <a:pt x="36285" y="951707"/>
                    <a:pt x="0" y="915422"/>
                    <a:pt x="0" y="870662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85725"/>
              <a:ext cx="18337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6821997"/>
            <a:ext cx="4871842" cy="2528429"/>
            <a:chOff x="0" y="0"/>
            <a:chExt cx="1833774" cy="9517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337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774">
                  <a:moveTo>
                    <a:pt x="81045" y="0"/>
                  </a:moveTo>
                  <a:lnTo>
                    <a:pt x="1752729" y="0"/>
                  </a:lnTo>
                  <a:cubicBezTo>
                    <a:pt x="1797489" y="0"/>
                    <a:pt x="1833774" y="36285"/>
                    <a:pt x="1833774" y="81045"/>
                  </a:cubicBezTo>
                  <a:lnTo>
                    <a:pt x="1833774" y="870662"/>
                  </a:lnTo>
                  <a:cubicBezTo>
                    <a:pt x="1833774" y="915422"/>
                    <a:pt x="1797489" y="951707"/>
                    <a:pt x="1752729" y="951707"/>
                  </a:cubicBezTo>
                  <a:lnTo>
                    <a:pt x="81045" y="951707"/>
                  </a:lnTo>
                  <a:cubicBezTo>
                    <a:pt x="36285" y="951707"/>
                    <a:pt x="0" y="915422"/>
                    <a:pt x="0" y="870662"/>
                  </a:cubicBezTo>
                  <a:lnTo>
                    <a:pt x="0" y="81045"/>
                  </a:lnTo>
                  <a:cubicBezTo>
                    <a:pt x="0" y="36285"/>
                    <a:pt x="36285" y="0"/>
                    <a:pt x="8104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85725"/>
              <a:ext cx="18337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388787" y="3698522"/>
            <a:ext cx="4870513" cy="2528429"/>
            <a:chOff x="0" y="0"/>
            <a:chExt cx="1833274" cy="9517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332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274">
                  <a:moveTo>
                    <a:pt x="81067" y="0"/>
                  </a:moveTo>
                  <a:lnTo>
                    <a:pt x="1752207" y="0"/>
                  </a:lnTo>
                  <a:cubicBezTo>
                    <a:pt x="1773707" y="0"/>
                    <a:pt x="1794327" y="8541"/>
                    <a:pt x="1809530" y="23744"/>
                  </a:cubicBezTo>
                  <a:cubicBezTo>
                    <a:pt x="1824733" y="38947"/>
                    <a:pt x="1833274" y="59567"/>
                    <a:pt x="1833274" y="81067"/>
                  </a:cubicBezTo>
                  <a:lnTo>
                    <a:pt x="1833274" y="870640"/>
                  </a:lnTo>
                  <a:cubicBezTo>
                    <a:pt x="1833274" y="892141"/>
                    <a:pt x="1824733" y="912760"/>
                    <a:pt x="1809530" y="927963"/>
                  </a:cubicBezTo>
                  <a:cubicBezTo>
                    <a:pt x="1794327" y="943166"/>
                    <a:pt x="1773707" y="951707"/>
                    <a:pt x="1752207" y="951707"/>
                  </a:cubicBezTo>
                  <a:lnTo>
                    <a:pt x="81067" y="951707"/>
                  </a:lnTo>
                  <a:cubicBezTo>
                    <a:pt x="59567" y="951707"/>
                    <a:pt x="38947" y="943166"/>
                    <a:pt x="23744" y="927963"/>
                  </a:cubicBezTo>
                  <a:cubicBezTo>
                    <a:pt x="8541" y="912760"/>
                    <a:pt x="0" y="892141"/>
                    <a:pt x="0" y="870640"/>
                  </a:cubicBezTo>
                  <a:lnTo>
                    <a:pt x="0" y="81067"/>
                  </a:lnTo>
                  <a:cubicBezTo>
                    <a:pt x="0" y="59567"/>
                    <a:pt x="8541" y="38947"/>
                    <a:pt x="23744" y="23744"/>
                  </a:cubicBezTo>
                  <a:cubicBezTo>
                    <a:pt x="38947" y="8541"/>
                    <a:pt x="59567" y="0"/>
                    <a:pt x="81067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18332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388787" y="6821997"/>
            <a:ext cx="4870513" cy="2528429"/>
            <a:chOff x="0" y="0"/>
            <a:chExt cx="1833274" cy="9517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33274" cy="951707"/>
            </a:xfrm>
            <a:custGeom>
              <a:avLst/>
              <a:gdLst/>
              <a:ahLst/>
              <a:cxnLst/>
              <a:rect r="r" b="b" t="t" l="l"/>
              <a:pathLst>
                <a:path h="951707" w="1833274">
                  <a:moveTo>
                    <a:pt x="81067" y="0"/>
                  </a:moveTo>
                  <a:lnTo>
                    <a:pt x="1752207" y="0"/>
                  </a:lnTo>
                  <a:cubicBezTo>
                    <a:pt x="1773707" y="0"/>
                    <a:pt x="1794327" y="8541"/>
                    <a:pt x="1809530" y="23744"/>
                  </a:cubicBezTo>
                  <a:cubicBezTo>
                    <a:pt x="1824733" y="38947"/>
                    <a:pt x="1833274" y="59567"/>
                    <a:pt x="1833274" y="81067"/>
                  </a:cubicBezTo>
                  <a:lnTo>
                    <a:pt x="1833274" y="870640"/>
                  </a:lnTo>
                  <a:cubicBezTo>
                    <a:pt x="1833274" y="892141"/>
                    <a:pt x="1824733" y="912760"/>
                    <a:pt x="1809530" y="927963"/>
                  </a:cubicBezTo>
                  <a:cubicBezTo>
                    <a:pt x="1794327" y="943166"/>
                    <a:pt x="1773707" y="951707"/>
                    <a:pt x="1752207" y="951707"/>
                  </a:cubicBezTo>
                  <a:lnTo>
                    <a:pt x="81067" y="951707"/>
                  </a:lnTo>
                  <a:cubicBezTo>
                    <a:pt x="59567" y="951707"/>
                    <a:pt x="38947" y="943166"/>
                    <a:pt x="23744" y="927963"/>
                  </a:cubicBezTo>
                  <a:cubicBezTo>
                    <a:pt x="8541" y="912760"/>
                    <a:pt x="0" y="892141"/>
                    <a:pt x="0" y="870640"/>
                  </a:cubicBezTo>
                  <a:lnTo>
                    <a:pt x="0" y="81067"/>
                  </a:lnTo>
                  <a:cubicBezTo>
                    <a:pt x="0" y="59567"/>
                    <a:pt x="8541" y="38947"/>
                    <a:pt x="23744" y="23744"/>
                  </a:cubicBezTo>
                  <a:cubicBezTo>
                    <a:pt x="38947" y="8541"/>
                    <a:pt x="59567" y="0"/>
                    <a:pt x="8106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1833274" cy="8659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485414" y="696555"/>
            <a:ext cx="15317172" cy="153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6" spc="-43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Use Cases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28378" y="3945862"/>
            <a:ext cx="2282418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🎓</a:t>
            </a: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Learning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9689" y="4510923"/>
            <a:ext cx="3937070" cy="146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Students learn machine learning concepts through visual workflows and hands-on experimentation.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64034" y="7083083"/>
            <a:ext cx="2795016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💻</a:t>
            </a: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Development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5345" y="7648144"/>
            <a:ext cx="3937070" cy="146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Deve</a:t>
            </a: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lopers build machine learning applications faster using simplified pipeline creation.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775154" y="3969133"/>
            <a:ext cx="3115390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📊</a:t>
            </a: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Experimentation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46466" y="4534193"/>
            <a:ext cx="3766204" cy="146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</a:t>
            </a: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ata scientists perform rapid experimentation and compare multiple models efficiently.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775154" y="7083083"/>
            <a:ext cx="2282418" cy="381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🏢</a:t>
            </a:r>
            <a:r>
              <a:rPr lang="en-US" b="true" sz="2599" spc="-10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Analytics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46466" y="7648144"/>
            <a:ext cx="3937070" cy="146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Organizations bu</a:t>
            </a:r>
            <a:r>
              <a:rPr lang="en-US" sz="2199" spc="-5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ild prediction systems for business analytics and data-driven decisions.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-9278497">
            <a:off x="5636889" y="-5627185"/>
            <a:ext cx="17891941" cy="1789194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9673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9278497">
            <a:off x="8546725" y="-2890427"/>
            <a:ext cx="12072268" cy="1207226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066800"/>
            <a:ext cx="7188300" cy="160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69"/>
              </a:lnSpc>
            </a:pPr>
            <a:r>
              <a:rPr lang="en-US" b="true" sz="10829" spc="-45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582859" y="1028700"/>
            <a:ext cx="4559919" cy="8686934"/>
            <a:chOff x="0" y="0"/>
            <a:chExt cx="706451" cy="13458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6451" cy="1345833"/>
            </a:xfrm>
            <a:custGeom>
              <a:avLst/>
              <a:gdLst/>
              <a:ahLst/>
              <a:cxnLst/>
              <a:rect r="r" b="b" t="t" l="l"/>
              <a:pathLst>
                <a:path h="1345833" w="706451">
                  <a:moveTo>
                    <a:pt x="67913" y="0"/>
                  </a:moveTo>
                  <a:lnTo>
                    <a:pt x="638538" y="0"/>
                  </a:lnTo>
                  <a:cubicBezTo>
                    <a:pt x="676045" y="0"/>
                    <a:pt x="706451" y="30406"/>
                    <a:pt x="706451" y="67913"/>
                  </a:cubicBezTo>
                  <a:lnTo>
                    <a:pt x="706451" y="1277921"/>
                  </a:lnTo>
                  <a:cubicBezTo>
                    <a:pt x="706451" y="1315428"/>
                    <a:pt x="676045" y="1345833"/>
                    <a:pt x="638538" y="1345833"/>
                  </a:cubicBezTo>
                  <a:lnTo>
                    <a:pt x="67913" y="1345833"/>
                  </a:lnTo>
                  <a:cubicBezTo>
                    <a:pt x="30406" y="1345833"/>
                    <a:pt x="0" y="1315428"/>
                    <a:pt x="0" y="1277921"/>
                  </a:cubicBezTo>
                  <a:lnTo>
                    <a:pt x="0" y="67913"/>
                  </a:lnTo>
                  <a:cubicBezTo>
                    <a:pt x="0" y="30406"/>
                    <a:pt x="30406" y="0"/>
                    <a:pt x="67913" y="0"/>
                  </a:cubicBezTo>
                  <a:close/>
                </a:path>
              </a:pathLst>
            </a:custGeom>
            <a:blipFill>
              <a:blip r:embed="rId3"/>
              <a:stretch>
                <a:fillRect l="-21353" t="0" r="-21353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1458629" y="1028700"/>
            <a:ext cx="2715240" cy="3463519"/>
            <a:chOff x="0" y="0"/>
            <a:chExt cx="727153" cy="92754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7153" cy="927546"/>
            </a:xfrm>
            <a:custGeom>
              <a:avLst/>
              <a:gdLst/>
              <a:ahLst/>
              <a:cxnLst/>
              <a:rect r="r" b="b" t="t" l="l"/>
              <a:pathLst>
                <a:path h="927546" w="727153">
                  <a:moveTo>
                    <a:pt x="114051" y="0"/>
                  </a:moveTo>
                  <a:lnTo>
                    <a:pt x="613102" y="0"/>
                  </a:lnTo>
                  <a:cubicBezTo>
                    <a:pt x="676091" y="0"/>
                    <a:pt x="727153" y="51063"/>
                    <a:pt x="727153" y="114051"/>
                  </a:cubicBezTo>
                  <a:lnTo>
                    <a:pt x="727153" y="813494"/>
                  </a:lnTo>
                  <a:cubicBezTo>
                    <a:pt x="727153" y="876483"/>
                    <a:pt x="676091" y="927546"/>
                    <a:pt x="613102" y="927546"/>
                  </a:cubicBezTo>
                  <a:lnTo>
                    <a:pt x="114051" y="927546"/>
                  </a:lnTo>
                  <a:cubicBezTo>
                    <a:pt x="51063" y="927546"/>
                    <a:pt x="0" y="876483"/>
                    <a:pt x="0" y="813494"/>
                  </a:cubicBezTo>
                  <a:lnTo>
                    <a:pt x="0" y="114051"/>
                  </a:lnTo>
                  <a:cubicBezTo>
                    <a:pt x="0" y="51063"/>
                    <a:pt x="51063" y="0"/>
                    <a:pt x="114051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327" r="0" b="-232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458629" y="5092572"/>
            <a:ext cx="2715240" cy="3463519"/>
            <a:chOff x="0" y="0"/>
            <a:chExt cx="727153" cy="9275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7153" cy="927546"/>
            </a:xfrm>
            <a:custGeom>
              <a:avLst/>
              <a:gdLst/>
              <a:ahLst/>
              <a:cxnLst/>
              <a:rect r="r" b="b" t="t" l="l"/>
              <a:pathLst>
                <a:path h="927546" w="727153">
                  <a:moveTo>
                    <a:pt x="114051" y="0"/>
                  </a:moveTo>
                  <a:lnTo>
                    <a:pt x="613102" y="0"/>
                  </a:lnTo>
                  <a:cubicBezTo>
                    <a:pt x="676091" y="0"/>
                    <a:pt x="727153" y="51063"/>
                    <a:pt x="727153" y="114051"/>
                  </a:cubicBezTo>
                  <a:lnTo>
                    <a:pt x="727153" y="813494"/>
                  </a:lnTo>
                  <a:cubicBezTo>
                    <a:pt x="727153" y="876483"/>
                    <a:pt x="676091" y="927546"/>
                    <a:pt x="613102" y="927546"/>
                  </a:cubicBezTo>
                  <a:lnTo>
                    <a:pt x="114051" y="927546"/>
                  </a:lnTo>
                  <a:cubicBezTo>
                    <a:pt x="51063" y="927546"/>
                    <a:pt x="0" y="876483"/>
                    <a:pt x="0" y="813494"/>
                  </a:cubicBezTo>
                  <a:lnTo>
                    <a:pt x="0" y="114051"/>
                  </a:lnTo>
                  <a:cubicBezTo>
                    <a:pt x="0" y="51063"/>
                    <a:pt x="51063" y="0"/>
                    <a:pt x="11405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327" r="0" b="-2327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458629" y="9301679"/>
            <a:ext cx="2715240" cy="3296335"/>
            <a:chOff x="0" y="0"/>
            <a:chExt cx="1134395" cy="13771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34395" cy="1377169"/>
            </a:xfrm>
            <a:custGeom>
              <a:avLst/>
              <a:gdLst/>
              <a:ahLst/>
              <a:cxnLst/>
              <a:rect r="r" b="b" t="t" l="l"/>
              <a:pathLst>
                <a:path h="1377169" w="1134395">
                  <a:moveTo>
                    <a:pt x="145415" y="0"/>
                  </a:moveTo>
                  <a:lnTo>
                    <a:pt x="988979" y="0"/>
                  </a:lnTo>
                  <a:cubicBezTo>
                    <a:pt x="1069290" y="0"/>
                    <a:pt x="1134395" y="65105"/>
                    <a:pt x="1134395" y="145415"/>
                  </a:cubicBezTo>
                  <a:lnTo>
                    <a:pt x="1134395" y="1231753"/>
                  </a:lnTo>
                  <a:cubicBezTo>
                    <a:pt x="1134395" y="1270320"/>
                    <a:pt x="1119074" y="1307307"/>
                    <a:pt x="1091803" y="1334578"/>
                  </a:cubicBezTo>
                  <a:cubicBezTo>
                    <a:pt x="1064533" y="1361848"/>
                    <a:pt x="1027546" y="1377169"/>
                    <a:pt x="988979" y="1377169"/>
                  </a:cubicBezTo>
                  <a:lnTo>
                    <a:pt x="145415" y="1377169"/>
                  </a:lnTo>
                  <a:cubicBezTo>
                    <a:pt x="106849" y="1377169"/>
                    <a:pt x="69862" y="1361848"/>
                    <a:pt x="42591" y="1334578"/>
                  </a:cubicBezTo>
                  <a:cubicBezTo>
                    <a:pt x="15321" y="1307307"/>
                    <a:pt x="0" y="1270320"/>
                    <a:pt x="0" y="1231753"/>
                  </a:cubicBezTo>
                  <a:lnTo>
                    <a:pt x="0" y="145415"/>
                  </a:lnTo>
                  <a:cubicBezTo>
                    <a:pt x="0" y="106849"/>
                    <a:pt x="15321" y="69862"/>
                    <a:pt x="42591" y="42591"/>
                  </a:cubicBezTo>
                  <a:cubicBezTo>
                    <a:pt x="69862" y="15321"/>
                    <a:pt x="106849" y="0"/>
                    <a:pt x="1454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1134395" cy="12914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8700" y="2941066"/>
            <a:ext cx="9204025" cy="563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080"/>
              </a:lnSpc>
              <a:buFont typeface="Arial"/>
              <a:buChar char="•"/>
            </a:pPr>
            <a:r>
              <a:rPr lang="en-US" sz="3000" spc="-6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FlowML simplifies machine learning development with a visual workflow platform that reduces technical complexity. The drag-and-drop builder allows users to create pipelines without extensive coding.</a:t>
            </a:r>
          </a:p>
          <a:p>
            <a:pPr algn="l" marL="647700" indent="-323850" lvl="1">
              <a:lnSpc>
                <a:spcPts val="4080"/>
              </a:lnSpc>
              <a:buFont typeface="Arial"/>
              <a:buChar char="•"/>
            </a:pPr>
            <a:r>
              <a:rPr lang="en-US" sz="3000" spc="-6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The platform automates preprocessing, model training, and evaluation, enabling faster experimentation and improved productivity.</a:t>
            </a:r>
          </a:p>
          <a:p>
            <a:pPr algn="l" marL="647700" indent="-323850" lvl="1">
              <a:lnSpc>
                <a:spcPts val="4080"/>
              </a:lnSpc>
              <a:buFont typeface="Arial"/>
              <a:buChar char="•"/>
            </a:pPr>
            <a:r>
              <a:rPr lang="en-US" sz="3000" spc="-69">
                <a:solidFill>
                  <a:srgbClr val="FFFFFF"/>
                </a:solidFill>
                <a:latin typeface="Inter Light"/>
                <a:ea typeface="Inter Light"/>
                <a:cs typeface="Inter Light"/>
                <a:sym typeface="Inter Light"/>
              </a:rPr>
              <a:t>FlowML also provides visual insights and prediction capabilities, making machine learning more accessible, efficient, and scalable.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8768940">
            <a:off x="-1315101" y="-4221648"/>
            <a:ext cx="20918202" cy="18730295"/>
          </a:xfrm>
          <a:custGeom>
            <a:avLst/>
            <a:gdLst/>
            <a:ahLst/>
            <a:cxnLst/>
            <a:rect r="r" b="b" t="t" l="l"/>
            <a:pathLst>
              <a:path h="18730295" w="20918202">
                <a:moveTo>
                  <a:pt x="15187984" y="0"/>
                </a:moveTo>
                <a:lnTo>
                  <a:pt x="0" y="10187054"/>
                </a:lnTo>
                <a:lnTo>
                  <a:pt x="5730218" y="18730296"/>
                </a:lnTo>
                <a:lnTo>
                  <a:pt x="20918202" y="8543242"/>
                </a:lnTo>
                <a:lnTo>
                  <a:pt x="15187984" y="0"/>
                </a:lnTo>
                <a:close/>
              </a:path>
            </a:pathLst>
          </a:custGeom>
          <a:blipFill>
            <a:blip r:embed="rId2"/>
            <a:stretch>
              <a:fillRect l="-2753" t="0" r="-31641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8073719">
            <a:off x="2774663" y="-1149785"/>
            <a:ext cx="12586569" cy="1258656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945"/>
                  </a:srgbClr>
                </a:gs>
                <a:gs pos="25000">
                  <a:srgbClr val="FFFFFF">
                    <a:alpha val="1350"/>
                  </a:srgbClr>
                </a:gs>
                <a:gs pos="50000">
                  <a:srgbClr val="FFFFFF">
                    <a:alpha val="900"/>
                  </a:srgbClr>
                </a:gs>
                <a:gs pos="75000">
                  <a:srgbClr val="FFFFFF">
                    <a:alpha val="1350"/>
                  </a:srgbClr>
                </a:gs>
                <a:gs pos="100000">
                  <a:srgbClr val="FFFFFF">
                    <a:alpha val="9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8627"/>
                </a:srgbClr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1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85414" y="1333357"/>
            <a:ext cx="15317172" cy="1538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35"/>
              </a:lnSpc>
            </a:pPr>
            <a:r>
              <a:rPr lang="en-US" b="true" sz="10286" spc="-43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Our Team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664003" y="3932795"/>
            <a:ext cx="4454236" cy="1764927"/>
            <a:chOff x="0" y="0"/>
            <a:chExt cx="5938981" cy="235323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938981" cy="2353237"/>
              <a:chOff x="0" y="0"/>
              <a:chExt cx="1833774" cy="72660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833774" cy="726607"/>
              </a:xfrm>
              <a:custGeom>
                <a:avLst/>
                <a:gdLst/>
                <a:ahLst/>
                <a:cxnLst/>
                <a:rect r="r" b="b" t="t" l="l"/>
                <a:pathLst>
                  <a:path h="726607" w="1833774">
                    <a:moveTo>
                      <a:pt x="81045" y="0"/>
                    </a:moveTo>
                    <a:lnTo>
                      <a:pt x="1752729" y="0"/>
                    </a:lnTo>
                    <a:cubicBezTo>
                      <a:pt x="1797489" y="0"/>
                      <a:pt x="1833774" y="36285"/>
                      <a:pt x="1833774" y="81045"/>
                    </a:cubicBezTo>
                    <a:lnTo>
                      <a:pt x="1833774" y="645562"/>
                    </a:lnTo>
                    <a:cubicBezTo>
                      <a:pt x="1833774" y="690322"/>
                      <a:pt x="1797489" y="726607"/>
                      <a:pt x="1752729" y="726607"/>
                    </a:cubicBezTo>
                    <a:lnTo>
                      <a:pt x="81045" y="726607"/>
                    </a:lnTo>
                    <a:cubicBezTo>
                      <a:pt x="36285" y="726607"/>
                      <a:pt x="0" y="690322"/>
                      <a:pt x="0" y="645562"/>
                    </a:cubicBezTo>
                    <a:lnTo>
                      <a:pt x="0" y="81045"/>
                    </a:lnTo>
                    <a:cubicBezTo>
                      <a:pt x="0" y="36285"/>
                      <a:pt x="36285" y="0"/>
                      <a:pt x="8104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ln w="1905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BD8D8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85725"/>
                <a:ext cx="1833774" cy="6408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76897" y="464000"/>
              <a:ext cx="5462084" cy="728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8"/>
                </a:lnSpc>
              </a:pPr>
              <a:r>
                <a:rPr lang="en-US" b="true" sz="3657" spc="-153">
                  <a:solidFill>
                    <a:srgbClr val="0E063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Ajinkya Walvekar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76897" y="1317619"/>
              <a:ext cx="4293049" cy="468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4"/>
                </a:lnSpc>
              </a:pPr>
              <a:r>
                <a:rPr lang="en-US" sz="2194" spc="-50">
                  <a:solidFill>
                    <a:srgbClr val="0E0637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Backend &amp; ML Integration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388663" y="3932795"/>
            <a:ext cx="5235334" cy="1764927"/>
            <a:chOff x="0" y="0"/>
            <a:chExt cx="6980445" cy="2353237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980445" cy="2353237"/>
              <a:chOff x="0" y="0"/>
              <a:chExt cx="2155346" cy="72660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55346" cy="726607"/>
              </a:xfrm>
              <a:custGeom>
                <a:avLst/>
                <a:gdLst/>
                <a:ahLst/>
                <a:cxnLst/>
                <a:rect r="r" b="b" t="t" l="l"/>
                <a:pathLst>
                  <a:path h="726607" w="2155346">
                    <a:moveTo>
                      <a:pt x="68953" y="0"/>
                    </a:moveTo>
                    <a:lnTo>
                      <a:pt x="2086393" y="0"/>
                    </a:lnTo>
                    <a:cubicBezTo>
                      <a:pt x="2124475" y="0"/>
                      <a:pt x="2155346" y="30871"/>
                      <a:pt x="2155346" y="68953"/>
                    </a:cubicBezTo>
                    <a:lnTo>
                      <a:pt x="2155346" y="657654"/>
                    </a:lnTo>
                    <a:cubicBezTo>
                      <a:pt x="2155346" y="695735"/>
                      <a:pt x="2124475" y="726607"/>
                      <a:pt x="2086393" y="726607"/>
                    </a:cubicBezTo>
                    <a:lnTo>
                      <a:pt x="68953" y="726607"/>
                    </a:lnTo>
                    <a:cubicBezTo>
                      <a:pt x="30871" y="726607"/>
                      <a:pt x="0" y="695735"/>
                      <a:pt x="0" y="657654"/>
                    </a:cubicBezTo>
                    <a:lnTo>
                      <a:pt x="0" y="68953"/>
                    </a:lnTo>
                    <a:cubicBezTo>
                      <a:pt x="0" y="30871"/>
                      <a:pt x="30871" y="0"/>
                      <a:pt x="68953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ln w="1905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BD8D8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85725"/>
                <a:ext cx="2155346" cy="6408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560526" y="464000"/>
              <a:ext cx="6419919" cy="728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8"/>
                </a:lnSpc>
              </a:pPr>
              <a:r>
                <a:rPr lang="en-US" b="true" sz="3657" spc="-153">
                  <a:solidFill>
                    <a:srgbClr val="0E063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Vishwajeet Chandole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60526" y="1317619"/>
              <a:ext cx="5045881" cy="468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4"/>
                </a:lnSpc>
              </a:pPr>
              <a:r>
                <a:rPr lang="en-US" sz="2194" spc="-50">
                  <a:solidFill>
                    <a:srgbClr val="0E0637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Frontend &amp; UI Development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168828" y="6277241"/>
            <a:ext cx="4454236" cy="1764927"/>
            <a:chOff x="0" y="0"/>
            <a:chExt cx="5938981" cy="235323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938981" cy="2353237"/>
              <a:chOff x="0" y="0"/>
              <a:chExt cx="1833774" cy="72660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833774" cy="726607"/>
              </a:xfrm>
              <a:custGeom>
                <a:avLst/>
                <a:gdLst/>
                <a:ahLst/>
                <a:cxnLst/>
                <a:rect r="r" b="b" t="t" l="l"/>
                <a:pathLst>
                  <a:path h="726607" w="1833774">
                    <a:moveTo>
                      <a:pt x="81045" y="0"/>
                    </a:moveTo>
                    <a:lnTo>
                      <a:pt x="1752729" y="0"/>
                    </a:lnTo>
                    <a:cubicBezTo>
                      <a:pt x="1797489" y="0"/>
                      <a:pt x="1833774" y="36285"/>
                      <a:pt x="1833774" y="81045"/>
                    </a:cubicBezTo>
                    <a:lnTo>
                      <a:pt x="1833774" y="645562"/>
                    </a:lnTo>
                    <a:cubicBezTo>
                      <a:pt x="1833774" y="690322"/>
                      <a:pt x="1797489" y="726607"/>
                      <a:pt x="1752729" y="726607"/>
                    </a:cubicBezTo>
                    <a:lnTo>
                      <a:pt x="81045" y="726607"/>
                    </a:lnTo>
                    <a:cubicBezTo>
                      <a:pt x="36285" y="726607"/>
                      <a:pt x="0" y="690322"/>
                      <a:pt x="0" y="645562"/>
                    </a:cubicBezTo>
                    <a:lnTo>
                      <a:pt x="0" y="81045"/>
                    </a:lnTo>
                    <a:cubicBezTo>
                      <a:pt x="0" y="36285"/>
                      <a:pt x="36285" y="0"/>
                      <a:pt x="8104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ln w="1905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BD8D8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85725"/>
                <a:ext cx="1833774" cy="6408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76897" y="464000"/>
              <a:ext cx="5462084" cy="728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8"/>
                </a:lnSpc>
              </a:pPr>
              <a:r>
                <a:rPr lang="en-US" b="true" sz="3657" spc="-153">
                  <a:solidFill>
                    <a:srgbClr val="0E063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Aditya Hajare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76897" y="1317619"/>
              <a:ext cx="4293049" cy="468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4"/>
                </a:lnSpc>
              </a:pPr>
              <a:r>
                <a:rPr lang="en-US" sz="2194" spc="-50">
                  <a:solidFill>
                    <a:srgbClr val="0E0637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Testing &amp; Pipeline Design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12463" y="6277241"/>
            <a:ext cx="4612415" cy="1764927"/>
            <a:chOff x="0" y="0"/>
            <a:chExt cx="6149886" cy="2353237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149886" cy="2353237"/>
              <a:chOff x="0" y="0"/>
              <a:chExt cx="1898895" cy="72660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898895" cy="726607"/>
              </a:xfrm>
              <a:custGeom>
                <a:avLst/>
                <a:gdLst/>
                <a:ahLst/>
                <a:cxnLst/>
                <a:rect r="r" b="b" t="t" l="l"/>
                <a:pathLst>
                  <a:path h="726607" w="1898895">
                    <a:moveTo>
                      <a:pt x="78266" y="0"/>
                    </a:moveTo>
                    <a:lnTo>
                      <a:pt x="1820630" y="0"/>
                    </a:lnTo>
                    <a:cubicBezTo>
                      <a:pt x="1863854" y="0"/>
                      <a:pt x="1898895" y="35041"/>
                      <a:pt x="1898895" y="78266"/>
                    </a:cubicBezTo>
                    <a:lnTo>
                      <a:pt x="1898895" y="648341"/>
                    </a:lnTo>
                    <a:cubicBezTo>
                      <a:pt x="1898895" y="691566"/>
                      <a:pt x="1863854" y="726607"/>
                      <a:pt x="1820630" y="726607"/>
                    </a:cubicBezTo>
                    <a:lnTo>
                      <a:pt x="78266" y="726607"/>
                    </a:lnTo>
                    <a:cubicBezTo>
                      <a:pt x="35041" y="726607"/>
                      <a:pt x="0" y="691566"/>
                      <a:pt x="0" y="648341"/>
                    </a:cubicBezTo>
                    <a:lnTo>
                      <a:pt x="0" y="78266"/>
                    </a:lnTo>
                    <a:cubicBezTo>
                      <a:pt x="0" y="35041"/>
                      <a:pt x="35041" y="0"/>
                      <a:pt x="78266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DBD8D8">
                      <a:alpha val="100000"/>
                    </a:srgbClr>
                  </a:gs>
                </a:gsLst>
                <a:lin ang="5400000"/>
              </a:gradFill>
              <a:ln w="19050" cap="rnd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DBD8D8">
                        <a:alpha val="100000"/>
                      </a:srgbClr>
                    </a:gs>
                  </a:gsLst>
                  <a:lin ang="5400000"/>
                </a:gra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85725"/>
                <a:ext cx="1898895" cy="64088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76897" y="464000"/>
              <a:ext cx="5462084" cy="728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78"/>
                </a:lnSpc>
              </a:pPr>
              <a:r>
                <a:rPr lang="en-US" b="true" sz="3657" spc="-153">
                  <a:solidFill>
                    <a:srgbClr val="0E0637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Prathmesh Kagale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76897" y="1317619"/>
              <a:ext cx="5672989" cy="4684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84"/>
                </a:lnSpc>
              </a:pPr>
              <a:r>
                <a:rPr lang="en-US" sz="2194" spc="-50">
                  <a:solidFill>
                    <a:srgbClr val="0E0637"/>
                  </a:solidFill>
                  <a:latin typeface="Open Sauce Light"/>
                  <a:ea typeface="Open Sauce Light"/>
                  <a:cs typeface="Open Sauce Light"/>
                  <a:sym typeface="Open Sauce Light"/>
                </a:rPr>
                <a:t>Research &amp; Documentation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51811" y="-3336526"/>
            <a:ext cx="19803462" cy="19803462"/>
            <a:chOff x="0" y="0"/>
            <a:chExt cx="26404616" cy="26404616"/>
          </a:xfrm>
        </p:grpSpPr>
        <p:grpSp>
          <p:nvGrpSpPr>
            <p:cNvPr name="Group 4" id="4"/>
            <p:cNvGrpSpPr/>
            <p:nvPr/>
          </p:nvGrpSpPr>
          <p:grpSpPr>
            <a:xfrm rot="566727">
              <a:off x="1727537" y="1727537"/>
              <a:ext cx="22949542" cy="22949542"/>
              <a:chOff x="0" y="0"/>
              <a:chExt cx="812800" cy="812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735"/>
                    </a:srgbClr>
                  </a:gs>
                  <a:gs pos="25000">
                    <a:srgbClr val="FFFFFF">
                      <a:alpha val="1050"/>
                    </a:srgbClr>
                  </a:gs>
                  <a:gs pos="50000">
                    <a:srgbClr val="FFFFFF">
                      <a:alpha val="700"/>
                    </a:srgbClr>
                  </a:gs>
                  <a:gs pos="75000">
                    <a:srgbClr val="FFFFFF">
                      <a:alpha val="1050"/>
                    </a:srgbClr>
                  </a:gs>
                  <a:gs pos="100000">
                    <a:srgbClr val="FFFFFF">
                      <a:alpha val="700"/>
                    </a:srgbClr>
                  </a:gs>
                </a:gsLst>
                <a:lin ang="2700000"/>
              </a:gradFill>
              <a:ln w="19050" cap="rnd">
                <a:solidFill>
                  <a:srgbClr val="FFFFFF">
                    <a:alpha val="6667"/>
                  </a:srgbClr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161925"/>
                <a:ext cx="660400" cy="574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566727">
              <a:off x="5497604" y="5497604"/>
              <a:ext cx="15409407" cy="15409407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FFFFFF">
                      <a:alpha val="735"/>
                    </a:srgbClr>
                  </a:gs>
                  <a:gs pos="25000">
                    <a:srgbClr val="FFFFFF">
                      <a:alpha val="1050"/>
                    </a:srgbClr>
                  </a:gs>
                  <a:gs pos="50000">
                    <a:srgbClr val="FFFFFF">
                      <a:alpha val="700"/>
                    </a:srgbClr>
                  </a:gs>
                  <a:gs pos="75000">
                    <a:srgbClr val="FFFFFF">
                      <a:alpha val="1050"/>
                    </a:srgbClr>
                  </a:gs>
                  <a:gs pos="100000">
                    <a:srgbClr val="FFFFFF">
                      <a:alpha val="700"/>
                    </a:srgbClr>
                  </a:gs>
                </a:gsLst>
                <a:lin ang="2700000"/>
              </a:gradFill>
              <a:ln w="19050" cap="rnd">
                <a:solidFill>
                  <a:srgbClr val="FFFFFF">
                    <a:alpha val="6667"/>
                  </a:srgbClr>
                </a:solidFill>
                <a:prstDash val="solid"/>
                <a:round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76200" y="161925"/>
                <a:ext cx="660400" cy="5746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218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0" id="10"/>
          <p:cNvSpPr txBox="true"/>
          <p:nvPr/>
        </p:nvSpPr>
        <p:spPr>
          <a:xfrm rot="0">
            <a:off x="1028700" y="3486583"/>
            <a:ext cx="16230600" cy="273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3"/>
              </a:lnSpc>
            </a:pPr>
            <a:r>
              <a:rPr lang="en-US" sz="22876" spc="-1075" b="true">
                <a:solidFill>
                  <a:srgbClr val="FFFFFF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2972" y="6242477"/>
            <a:ext cx="13476196" cy="762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4"/>
              </a:lnSpc>
            </a:pPr>
            <a:r>
              <a:rPr lang="en-US" sz="4900" spc="-274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FlowML - Visual Machine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DAHG0ABStFE</dc:identifier>
  <dcterms:modified xsi:type="dcterms:W3CDTF">2011-08-01T06:04:30Z</dcterms:modified>
  <cp:revision>1</cp:revision>
  <dc:title>FlowML PPT</dc:title>
</cp:coreProperties>
</file>